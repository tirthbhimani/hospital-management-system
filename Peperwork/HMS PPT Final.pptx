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5" r:id="rId3"/>
    <p:sldId id="282" r:id="rId4"/>
    <p:sldId id="271" r:id="rId5"/>
    <p:sldId id="272" r:id="rId6"/>
    <p:sldId id="285" r:id="rId7"/>
    <p:sldId id="287" r:id="rId8"/>
    <p:sldId id="288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274" r:id="rId17"/>
    <p:sldId id="276" r:id="rId18"/>
    <p:sldId id="275" r:id="rId19"/>
    <p:sldId id="277" r:id="rId20"/>
    <p:sldId id="278" r:id="rId21"/>
    <p:sldId id="279" r:id="rId22"/>
    <p:sldId id="284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2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si" userId="c261fac0d0eb37aa" providerId="LiveId" clId="{4A3B41A5-FF4B-44B4-BE72-81D6AD68825E}"/>
    <pc:docChg chg="custSel delSld modSld">
      <pc:chgData name="Bansi" userId="c261fac0d0eb37aa" providerId="LiveId" clId="{4A3B41A5-FF4B-44B4-BE72-81D6AD68825E}" dt="2025-11-05T11:16:31.611" v="74" actId="255"/>
      <pc:docMkLst>
        <pc:docMk/>
      </pc:docMkLst>
      <pc:sldChg chg="modSp mod">
        <pc:chgData name="Bansi" userId="c261fac0d0eb37aa" providerId="LiveId" clId="{4A3B41A5-FF4B-44B4-BE72-81D6AD68825E}" dt="2025-11-05T11:16:31.611" v="74" actId="255"/>
        <pc:sldMkLst>
          <pc:docMk/>
          <pc:sldMk cId="0" sldId="256"/>
        </pc:sldMkLst>
        <pc:spChg chg="mod">
          <ac:chgData name="Bansi" userId="c261fac0d0eb37aa" providerId="LiveId" clId="{4A3B41A5-FF4B-44B4-BE72-81D6AD68825E}" dt="2025-11-05T11:16:31.611" v="74" actId="255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Bansi" userId="c261fac0d0eb37aa" providerId="LiveId" clId="{4A3B41A5-FF4B-44B4-BE72-81D6AD68825E}" dt="2025-11-05T09:55:17.820" v="48" actId="20577"/>
        <pc:sldMkLst>
          <pc:docMk/>
          <pc:sldMk cId="0" sldId="257"/>
        </pc:sldMkLst>
        <pc:spChg chg="mod">
          <ac:chgData name="Bansi" userId="c261fac0d0eb37aa" providerId="LiveId" clId="{4A3B41A5-FF4B-44B4-BE72-81D6AD68825E}" dt="2025-11-05T09:55:17.820" v="48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Bansi" userId="c261fac0d0eb37aa" providerId="LiveId" clId="{4A3B41A5-FF4B-44B4-BE72-81D6AD68825E}" dt="2025-11-05T09:54:23.858" v="29" actId="2696"/>
        <pc:sldMkLst>
          <pc:docMk/>
          <pc:sldMk cId="3172496348" sldId="286"/>
        </pc:sldMkLst>
      </pc:sldChg>
      <pc:sldChg chg="addSp delSp modSp mod">
        <pc:chgData name="Bansi" userId="c261fac0d0eb37aa" providerId="LiveId" clId="{4A3B41A5-FF4B-44B4-BE72-81D6AD68825E}" dt="2025-11-05T09:49:54.591" v="18" actId="14100"/>
        <pc:sldMkLst>
          <pc:docMk/>
          <pc:sldMk cId="785675348" sldId="287"/>
        </pc:sldMkLst>
        <pc:picChg chg="add del mod">
          <ac:chgData name="Bansi" userId="c261fac0d0eb37aa" providerId="LiveId" clId="{4A3B41A5-FF4B-44B4-BE72-81D6AD68825E}" dt="2025-11-05T09:47:24.148" v="1" actId="21"/>
          <ac:picMkLst>
            <pc:docMk/>
            <pc:sldMk cId="785675348" sldId="287"/>
            <ac:picMk id="5" creationId="{E6B11886-46E6-40E1-BD4D-6C5A5D31A0E6}"/>
          </ac:picMkLst>
        </pc:picChg>
        <pc:picChg chg="add mod">
          <ac:chgData name="Bansi" userId="c261fac0d0eb37aa" providerId="LiveId" clId="{4A3B41A5-FF4B-44B4-BE72-81D6AD68825E}" dt="2025-11-05T09:49:54.591" v="18" actId="14100"/>
          <ac:picMkLst>
            <pc:docMk/>
            <pc:sldMk cId="785675348" sldId="287"/>
            <ac:picMk id="7" creationId="{8BD32360-B3F8-4D36-BEBB-3A452491FF5F}"/>
          </ac:picMkLst>
        </pc:picChg>
      </pc:sldChg>
      <pc:sldChg chg="addSp modSp mod">
        <pc:chgData name="Bansi" userId="c261fac0d0eb37aa" providerId="LiveId" clId="{4A3B41A5-FF4B-44B4-BE72-81D6AD68825E}" dt="2025-11-05T09:50:50.035" v="23" actId="14100"/>
        <pc:sldMkLst>
          <pc:docMk/>
          <pc:sldMk cId="2653773152" sldId="288"/>
        </pc:sldMkLst>
        <pc:picChg chg="add mod">
          <ac:chgData name="Bansi" userId="c261fac0d0eb37aa" providerId="LiveId" clId="{4A3B41A5-FF4B-44B4-BE72-81D6AD68825E}" dt="2025-11-05T09:50:50.035" v="23" actId="14100"/>
          <ac:picMkLst>
            <pc:docMk/>
            <pc:sldMk cId="2653773152" sldId="288"/>
            <ac:picMk id="5" creationId="{B8B9ED7F-3750-4103-A729-8B33589DED0D}"/>
          </ac:picMkLst>
        </pc:picChg>
      </pc:sldChg>
      <pc:sldChg chg="addSp modSp mod">
        <pc:chgData name="Bansi" userId="c261fac0d0eb37aa" providerId="LiveId" clId="{4A3B41A5-FF4B-44B4-BE72-81D6AD68825E}" dt="2025-11-05T09:48:58.983" v="14" actId="14100"/>
        <pc:sldMkLst>
          <pc:docMk/>
          <pc:sldMk cId="2377661339" sldId="289"/>
        </pc:sldMkLst>
        <pc:picChg chg="add mod">
          <ac:chgData name="Bansi" userId="c261fac0d0eb37aa" providerId="LiveId" clId="{4A3B41A5-FF4B-44B4-BE72-81D6AD68825E}" dt="2025-11-05T09:48:58.983" v="14" actId="14100"/>
          <ac:picMkLst>
            <pc:docMk/>
            <pc:sldMk cId="2377661339" sldId="289"/>
            <ac:picMk id="4" creationId="{06FB893F-8075-4A4F-91D6-C67FAC5F9621}"/>
          </ac:picMkLst>
        </pc:picChg>
      </pc:sldChg>
      <pc:sldChg chg="addSp modSp mod">
        <pc:chgData name="Bansi" userId="c261fac0d0eb37aa" providerId="LiveId" clId="{4A3B41A5-FF4B-44B4-BE72-81D6AD68825E}" dt="2025-11-05T09:53:51.631" v="28" actId="14100"/>
        <pc:sldMkLst>
          <pc:docMk/>
          <pc:sldMk cId="3598885149" sldId="290"/>
        </pc:sldMkLst>
        <pc:picChg chg="add mod">
          <ac:chgData name="Bansi" userId="c261fac0d0eb37aa" providerId="LiveId" clId="{4A3B41A5-FF4B-44B4-BE72-81D6AD68825E}" dt="2025-11-05T09:53:51.631" v="28" actId="14100"/>
          <ac:picMkLst>
            <pc:docMk/>
            <pc:sldMk cId="3598885149" sldId="290"/>
            <ac:picMk id="5" creationId="{0C7EC5C3-518E-4DE2-B265-3121DCA6D8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83907" y="1453958"/>
            <a:ext cx="477618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95955" y="3465639"/>
            <a:ext cx="5952088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10-Apr-26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10-Apr-26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10-Apr-26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1070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816" y="1240916"/>
            <a:ext cx="7340600" cy="149111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957705" marR="5080" indent="-1945639">
              <a:lnSpc>
                <a:spcPct val="101699"/>
              </a:lnSpc>
              <a:spcBef>
                <a:spcPts val="50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Technology,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Design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Computer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Application </a:t>
            </a:r>
            <a:endParaRPr sz="2400" dirty="0">
              <a:latin typeface="Times New Roman"/>
              <a:cs typeface="Times New Roman"/>
            </a:endParaRPr>
          </a:p>
          <a:p>
            <a:pPr marL="662305" marR="650240" indent="148780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Bachelor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endParaRPr sz="2400" dirty="0">
              <a:latin typeface="Times New Roman"/>
              <a:cs typeface="Times New Roman"/>
            </a:endParaRPr>
          </a:p>
          <a:p>
            <a:pPr marL="88963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Department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Computer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(04)</a:t>
            </a:r>
            <a:endParaRPr lang="en-US" sz="2400" b="1" spc="-20" dirty="0">
              <a:latin typeface="Times New Roman"/>
              <a:cs typeface="Times New Roman"/>
            </a:endParaRPr>
          </a:p>
          <a:p>
            <a:pPr marL="889635">
              <a:lnSpc>
                <a:spcPct val="10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SUBJECT: Innovation and Design Thinking(2)</a:t>
            </a:r>
            <a:endParaRPr sz="24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4406221"/>
            <a:ext cx="3886200" cy="2367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Group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Members</a:t>
            </a:r>
            <a:r>
              <a:rPr lang="en-US" sz="2800" spc="-10" dirty="0">
                <a:latin typeface="Times New Roman"/>
                <a:cs typeface="Times New Roman"/>
              </a:rPr>
              <a:t> :-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Rensi-60(</a:t>
            </a:r>
            <a:r>
              <a:rPr lang="en-US" sz="2000" spc="-10" dirty="0" err="1">
                <a:latin typeface="Times New Roman"/>
                <a:cs typeface="Times New Roman"/>
              </a:rPr>
              <a:t>En.No</a:t>
            </a:r>
            <a:r>
              <a:rPr lang="en-US" sz="2000" spc="-10" dirty="0">
                <a:latin typeface="Times New Roman"/>
                <a:cs typeface="Times New Roman"/>
              </a:rPr>
              <a:t>:-2502030430086)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Bansi-06(</a:t>
            </a:r>
            <a:r>
              <a:rPr lang="en-US" sz="2000" spc="-10" dirty="0" err="1">
                <a:latin typeface="Times New Roman"/>
                <a:cs typeface="Times New Roman"/>
              </a:rPr>
              <a:t>En.No</a:t>
            </a:r>
            <a:r>
              <a:rPr lang="en-US" sz="2000" spc="-10" dirty="0">
                <a:latin typeface="Times New Roman"/>
                <a:cs typeface="Times New Roman"/>
              </a:rPr>
              <a:t>:-2502030430031)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Hitaxi-30(</a:t>
            </a:r>
            <a:r>
              <a:rPr lang="en-US" sz="2000" spc="-10" dirty="0" err="1">
                <a:latin typeface="Times New Roman"/>
                <a:cs typeface="Times New Roman"/>
              </a:rPr>
              <a:t>En.No</a:t>
            </a:r>
            <a:r>
              <a:rPr lang="en-US" sz="2000" spc="-10" dirty="0">
                <a:latin typeface="Times New Roman"/>
                <a:cs typeface="Times New Roman"/>
              </a:rPr>
              <a:t>:-2502030430055)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Kokay-81(</a:t>
            </a:r>
            <a:r>
              <a:rPr lang="en-US" sz="2000" spc="-10" dirty="0" err="1">
                <a:latin typeface="Times New Roman"/>
                <a:cs typeface="Times New Roman"/>
              </a:rPr>
              <a:t>En.No</a:t>
            </a:r>
            <a:r>
              <a:rPr lang="en-US" sz="2000" spc="-10" dirty="0">
                <a:latin typeface="Times New Roman"/>
                <a:cs typeface="Times New Roman"/>
              </a:rPr>
              <a:t>:-2502030430108)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Kinjal-19(</a:t>
            </a:r>
            <a:r>
              <a:rPr lang="en-US" sz="2000" spc="-10" dirty="0" err="1">
                <a:latin typeface="Times New Roman"/>
                <a:cs typeface="Times New Roman"/>
              </a:rPr>
              <a:t>En.No</a:t>
            </a:r>
            <a:r>
              <a:rPr lang="en-US" sz="2000" spc="-10" dirty="0">
                <a:latin typeface="Times New Roman"/>
                <a:cs typeface="Times New Roman"/>
              </a:rPr>
              <a:t>:-2502030430044)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dirty="0">
                <a:latin typeface="Times New Roman"/>
                <a:cs typeface="Times New Roman"/>
              </a:rPr>
              <a:t>Tirth-</a:t>
            </a:r>
            <a:r>
              <a:rPr lang="en-US" sz="2000" spc="-10" dirty="0">
                <a:latin typeface="Times New Roman"/>
                <a:cs typeface="Times New Roman"/>
              </a:rPr>
              <a:t>73(</a:t>
            </a:r>
            <a:r>
              <a:rPr lang="en-US" sz="2000" spc="-10" dirty="0" err="1">
                <a:latin typeface="Times New Roman"/>
                <a:cs typeface="Times New Roman"/>
              </a:rPr>
              <a:t>En.No</a:t>
            </a:r>
            <a:r>
              <a:rPr lang="en-US" sz="2000" spc="-10" dirty="0">
                <a:latin typeface="Times New Roman"/>
                <a:cs typeface="Times New Roman"/>
              </a:rPr>
              <a:t>:-2502030430100)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8893" y="4465415"/>
            <a:ext cx="324104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Faculty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Guide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0" dirty="0">
                <a:latin typeface="Times New Roman"/>
                <a:cs typeface="Times New Roman"/>
              </a:rPr>
              <a:t>Prof. Kruti Sheth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575" y="73025"/>
            <a:ext cx="4414838" cy="971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88729" y="3034578"/>
            <a:ext cx="6344774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Hospital Resource &amp; Appointment Management System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41C172-FBA9-CE8A-8F80-0508A627EF2B}"/>
              </a:ext>
            </a:extLst>
          </p:cNvPr>
          <p:cNvSpPr txBox="1"/>
          <p:nvPr/>
        </p:nvSpPr>
        <p:spPr>
          <a:xfrm>
            <a:off x="609600" y="6858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spc="-35" dirty="0">
                <a:latin typeface="Times New Roman"/>
                <a:cs typeface="Times New Roman"/>
              </a:rPr>
              <a:t>Table</a:t>
            </a:r>
            <a:r>
              <a:rPr lang="en-IN" sz="3600" b="1" spc="-110" dirty="0">
                <a:latin typeface="Times New Roman"/>
                <a:cs typeface="Times New Roman"/>
              </a:rPr>
              <a:t> </a:t>
            </a:r>
            <a:r>
              <a:rPr lang="en-IN" sz="3600" b="1" dirty="0">
                <a:latin typeface="Times New Roman"/>
                <a:cs typeface="Times New Roman"/>
              </a:rPr>
              <a:t>of</a:t>
            </a:r>
            <a:r>
              <a:rPr lang="en-IN" sz="3600" b="1" spc="-100" dirty="0">
                <a:latin typeface="Times New Roman"/>
                <a:cs typeface="Times New Roman"/>
              </a:rPr>
              <a:t> </a:t>
            </a:r>
            <a:r>
              <a:rPr lang="en-IN" sz="3600" b="1" spc="-10" dirty="0">
                <a:latin typeface="Times New Roman"/>
                <a:cs typeface="Times New Roman"/>
              </a:rPr>
              <a:t>Content</a:t>
            </a:r>
            <a:endParaRPr lang="en-IN" sz="3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F6DB4B-277F-1FD1-A368-5C0CFAAD3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839129"/>
              </p:ext>
            </p:extLst>
          </p:nvPr>
        </p:nvGraphicFramePr>
        <p:xfrm>
          <a:off x="1371600" y="2209800"/>
          <a:ext cx="5766118" cy="276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18118">
                  <a:extLst>
                    <a:ext uri="{9D8B030D-6E8A-4147-A177-3AD203B41FA5}">
                      <a16:colId xmlns:a16="http://schemas.microsoft.com/office/drawing/2014/main" val="13075799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32704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270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>
                          <a:tab pos="278765" algn="l"/>
                        </a:tabLst>
                        <a:defRPr/>
                      </a:pPr>
                      <a:r>
                        <a:rPr lang="en-IN" sz="1800" b="0" spc="-10" dirty="0">
                          <a:latin typeface="Times New Roman"/>
                          <a:cs typeface="Times New Roman"/>
                        </a:rPr>
                        <a:t>Abstract</a:t>
                      </a:r>
                      <a:endParaRPr lang="en-IN" sz="1800" b="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pc="-20" dirty="0">
                          <a:latin typeface="Times New Roman"/>
                          <a:cs typeface="Times New Roman"/>
                        </a:rPr>
                        <a:t>Prototype Screenshot </a:t>
                      </a:r>
                      <a:endParaRPr lang="en-US" sz="1800" b="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76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spc="-10" dirty="0"/>
                        <a:t>Introduction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spc="-10" dirty="0">
                          <a:latin typeface="Times New Roman"/>
                          <a:cs typeface="Times New Roman"/>
                        </a:rPr>
                        <a:t>Problem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66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Literature</a:t>
                      </a:r>
                      <a:r>
                        <a:rPr lang="en-IN" sz="1800" spc="-50" dirty="0"/>
                        <a:t> </a:t>
                      </a:r>
                      <a:r>
                        <a:rPr lang="en-IN" sz="1800" spc="-10" dirty="0"/>
                        <a:t>Survey/Research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0" dirty="0">
                          <a:latin typeface="Times New Roman"/>
                          <a:cs typeface="Times New Roman"/>
                        </a:rPr>
                        <a:t>Solution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3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Proposed</a:t>
                      </a:r>
                      <a:r>
                        <a:rPr lang="en-IN" sz="1800" spc="-55" dirty="0"/>
                        <a:t> </a:t>
                      </a:r>
                      <a:r>
                        <a:rPr lang="en-IN" sz="1800" spc="-20" dirty="0"/>
                        <a:t>Work</a:t>
                      </a:r>
                      <a:endParaRPr lang="en-IN" sz="1800" spc="-2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Novelty of </a:t>
                      </a:r>
                      <a:r>
                        <a:rPr lang="en-US" sz="1800" spc="-10" dirty="0">
                          <a:latin typeface="Times New Roman"/>
                          <a:cs typeface="Times New Roman"/>
                        </a:rPr>
                        <a:t>definition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18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20" dirty="0"/>
                        <a:t>AEIOU Canvas</a:t>
                      </a:r>
                      <a:endParaRPr lang="en-US" sz="1800" spc="-2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20" dirty="0">
                          <a:latin typeface="Times New Roman"/>
                          <a:cs typeface="Times New Roman"/>
                        </a:rPr>
                        <a:t>Worked</a:t>
                      </a:r>
                      <a:r>
                        <a:rPr lang="en-US"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carried</a:t>
                      </a:r>
                      <a:r>
                        <a:rPr lang="en-US"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lang="en-US"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till</a:t>
                      </a:r>
                      <a:r>
                        <a:rPr lang="en-US"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spc="-20" dirty="0">
                          <a:latin typeface="Times New Roman"/>
                          <a:cs typeface="Times New Roman"/>
                        </a:rPr>
                        <a:t>date(Table</a:t>
                      </a:r>
                      <a:r>
                        <a:rPr lang="en-US"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spc="-10" dirty="0">
                          <a:latin typeface="Times New Roman"/>
                          <a:cs typeface="Times New Roman"/>
                        </a:rPr>
                        <a:t>format)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6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20" dirty="0"/>
                        <a:t>Ideation Canvas</a:t>
                      </a:r>
                      <a:endParaRPr lang="en-US" sz="1800" spc="-2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" indent="0">
                        <a:lnSpc>
                          <a:spcPct val="100000"/>
                        </a:lnSpc>
                        <a:spcBef>
                          <a:spcPts val="800"/>
                        </a:spcBef>
                        <a:buNone/>
                        <a:tabLst>
                          <a:tab pos="279400" algn="l"/>
                        </a:tabLst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lang="en-US" sz="18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spc="-3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lang="en-US" sz="1800" spc="-6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lang="en-US" sz="1800" spc="-10" dirty="0">
                          <a:latin typeface="Times New Roman"/>
                          <a:cs typeface="Times New Roman"/>
                        </a:rPr>
                        <a:t>Conclusion </a:t>
                      </a:r>
                      <a:r>
                        <a:rPr lang="en-US" sz="1800" spc="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lang="en-US" sz="1800" spc="-10" dirty="0">
                          <a:latin typeface="Times New Roman"/>
                          <a:cs typeface="Times New Roman"/>
                        </a:rPr>
                        <a:t>References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30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88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E794-4F3E-417E-B2BC-A85F3B99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15637"/>
            <a:ext cx="7114786" cy="1107996"/>
          </a:xfrm>
        </p:spPr>
        <p:txBody>
          <a:bodyPr/>
          <a:lstStyle/>
          <a:p>
            <a:r>
              <a:rPr lang="en-US" sz="3600" spc="-10" dirty="0">
                <a:latin typeface="Times New Roman"/>
                <a:cs typeface="Times New Roman"/>
              </a:rPr>
              <a:t>Abstract</a:t>
            </a:r>
            <a:br>
              <a:rPr lang="en-US" sz="3600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CED82-68D3-431B-B910-A12FD5EB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33600"/>
            <a:ext cx="8229600" cy="4278094"/>
          </a:xfrm>
        </p:spPr>
        <p:txBody>
          <a:bodyPr/>
          <a:lstStyle/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Hospital Resource &amp; Appointment Management System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focuses on improving hospital and patient management using online technology.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patients easily check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bed availability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timing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their mobile phones.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gives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avoid long waiting hours and make hospital operations more efficient.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26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1B96-BB17-2F22-B640-ADDC8B10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33724"/>
            <a:ext cx="7114786" cy="553998"/>
          </a:xfrm>
        </p:spPr>
        <p:txBody>
          <a:bodyPr/>
          <a:lstStyle/>
          <a:p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DF1-7F29-4A98-E8F2-73E0DB95B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286000"/>
            <a:ext cx="7696200" cy="304698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world, managing healthcare efficiently is very important.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hospitals still use manual systems for patient entry and updates.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causes problems like waiting in lines, lack of communication, and delayed updates.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focuses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digitalizing healthcare services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patient convenience and hospital management.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73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E8C4-F450-E16E-EF6D-E9E11245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7200"/>
            <a:ext cx="7114786" cy="5539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Survey/Research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D37BC-C44A-045D-84A0-4D6C62CCA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82000" cy="5410199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6C9C792-3E0B-4418-A31D-F920F8D46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177858"/>
              </p:ext>
            </p:extLst>
          </p:nvPr>
        </p:nvGraphicFramePr>
        <p:xfrm>
          <a:off x="381000" y="1371600"/>
          <a:ext cx="8381999" cy="486294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8983">
                  <a:extLst>
                    <a:ext uri="{9D8B030D-6E8A-4147-A177-3AD203B41FA5}">
                      <a16:colId xmlns:a16="http://schemas.microsoft.com/office/drawing/2014/main" val="2784701329"/>
                    </a:ext>
                  </a:extLst>
                </a:gridCol>
                <a:gridCol w="2547672">
                  <a:extLst>
                    <a:ext uri="{9D8B030D-6E8A-4147-A177-3AD203B41FA5}">
                      <a16:colId xmlns:a16="http://schemas.microsoft.com/office/drawing/2014/main" val="1175677065"/>
                    </a:ext>
                  </a:extLst>
                </a:gridCol>
                <a:gridCol w="2547672">
                  <a:extLst>
                    <a:ext uri="{9D8B030D-6E8A-4147-A177-3AD203B41FA5}">
                      <a16:colId xmlns:a16="http://schemas.microsoft.com/office/drawing/2014/main" val="3732146261"/>
                    </a:ext>
                  </a:extLst>
                </a:gridCol>
                <a:gridCol w="2547672">
                  <a:extLst>
                    <a:ext uri="{9D8B030D-6E8A-4147-A177-3AD203B41FA5}">
                      <a16:colId xmlns:a16="http://schemas.microsoft.com/office/drawing/2014/main" val="2329953633"/>
                    </a:ext>
                  </a:extLst>
                </a:gridCol>
              </a:tblGrid>
              <a:tr h="7117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Research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/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86887"/>
                  </a:ext>
                </a:extLst>
              </a:tr>
              <a:tr h="13023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Healthcare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IoT,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health data collection using sensors and remote monitoring of patients.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30014"/>
                  </a:ext>
                </a:extLst>
              </a:tr>
              <a:tr h="13023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Hospital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Web,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Simplifies hospital operations like appointments, billing, and bed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271224"/>
                  </a:ext>
                </a:extLst>
              </a:tr>
              <a:tr h="15465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 Appointment &amp; Scheduling Portal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PHP, 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patients book and track doctor appointments online, reducing waiting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915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23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98C5-0A79-4E1B-9361-01650F73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914400"/>
            <a:ext cx="7114786" cy="553998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spc="-19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43ECB-D849-4FA5-9C53-7CA33F80B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57400"/>
            <a:ext cx="7467600" cy="2800767"/>
          </a:xfrm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bed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timings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queue 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check updates easily on their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staff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information instantly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an admin panel.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waiting time, manage crowds, and improve hospital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24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B3B1-13A8-443D-9E2E-D25D90CE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4" y="685800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AEIOU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6952B-4FEE-4130-AACC-B94E2212D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B8C379-EA0B-1959-4205-44113FD1C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4" y="1577340"/>
            <a:ext cx="8250937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7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E079-804C-4851-9E19-AE6E4305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1510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Canvas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4BCA5-D0C0-4258-8228-54031B754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3DA92-5532-DFF0-C1D3-5AB6C157A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32244" y="-202785"/>
            <a:ext cx="4679511" cy="82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7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20633-87AE-BBF0-2090-CD9CFA06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88" b="5594"/>
          <a:stretch>
            <a:fillRect/>
          </a:stretch>
        </p:blipFill>
        <p:spPr>
          <a:xfrm>
            <a:off x="0" y="1219200"/>
            <a:ext cx="91440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19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A56FA-8EE8-ABEA-A2E0-0A5DE673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20" b="5960"/>
          <a:stretch>
            <a:fillRect/>
          </a:stretch>
        </p:blipFill>
        <p:spPr>
          <a:xfrm>
            <a:off x="0" y="1219200"/>
            <a:ext cx="9144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22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00C3C-49D1-7590-5B7D-8025E608E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8" b="6000"/>
          <a:stretch>
            <a:fillRect/>
          </a:stretch>
        </p:blipFill>
        <p:spPr>
          <a:xfrm>
            <a:off x="0" y="1295400"/>
            <a:ext cx="9144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21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F92338-02CC-44C9-A97B-3B202659C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6" b="6000"/>
          <a:stretch>
            <a:fillRect/>
          </a:stretch>
        </p:blipFill>
        <p:spPr>
          <a:xfrm>
            <a:off x="0" y="1295400"/>
            <a:ext cx="9144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8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6B411-9B85-887B-A0C4-C1E635F8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6" b="6000"/>
          <a:stretch>
            <a:fillRect/>
          </a:stretch>
        </p:blipFill>
        <p:spPr>
          <a:xfrm>
            <a:off x="0" y="1295400"/>
            <a:ext cx="9144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47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1DC748-D9E0-4D6C-FE01-E38C5A8DE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7" b="4667"/>
          <a:stretch>
            <a:fillRect/>
          </a:stretch>
        </p:blipFill>
        <p:spPr>
          <a:xfrm>
            <a:off x="0" y="1295400"/>
            <a:ext cx="9144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60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57ECF5-87FF-2314-CDB3-4B82C5D0C1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7" b="4667"/>
          <a:stretch>
            <a:fillRect/>
          </a:stretch>
        </p:blipFill>
        <p:spPr>
          <a:xfrm>
            <a:off x="0" y="1295400"/>
            <a:ext cx="9144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4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2CF9-CF7D-B20B-3370-6A33AA6B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0"/>
            <a:ext cx="7114786" cy="553998"/>
          </a:xfrm>
        </p:spPr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CFA58F-AF19-4419-A25A-703A9D412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5990"/>
            <a:ext cx="8229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Bed Availability: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do not know if beds are available in hospitals until they visit physically.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Waiting Queues: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have to stand outside the hospital for a long time to get their case number or appointment.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Availability: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not informed about which doctors are present or when they will arrive.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Updates: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system to give immediate updates about hospital changes or doctor schedules.</a:t>
            </a:r>
          </a:p>
        </p:txBody>
      </p:sp>
    </p:spTree>
    <p:extLst>
      <p:ext uri="{BB962C8B-B14F-4D97-AF65-F5344CB8AC3E}">
        <p14:creationId xmlns:p14="http://schemas.microsoft.com/office/powerpoint/2010/main" val="2598449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F131-0936-201C-B546-A85793DE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71600"/>
            <a:ext cx="7114786" cy="553998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lang="en-IN" spc="-11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pc="-10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FA61C4-34F4-4FE8-871C-2A2C253D10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409319"/>
            <a:ext cx="7391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hospital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directly on mobile phones.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timing, bed info, and patient queue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one platform.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updates and notifications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 and staff.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access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wellness experience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users.</a:t>
            </a:r>
          </a:p>
        </p:txBody>
      </p:sp>
    </p:spTree>
    <p:extLst>
      <p:ext uri="{BB962C8B-B14F-4D97-AF65-F5344CB8AC3E}">
        <p14:creationId xmlns:p14="http://schemas.microsoft.com/office/powerpoint/2010/main" val="231712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4AE3-D4FF-0707-BC8D-63D0E540D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66800"/>
            <a:ext cx="7114786" cy="973780"/>
          </a:xfrm>
        </p:spPr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412E00-AAE6-4C4C-AA3D-29781170C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2101544"/>
            <a:ext cx="82296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healthcare management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shows: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bed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 mobile app or website.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Doctor’s schedule and availability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queue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 to take tokens online.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notifications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any update or change in hospital information.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waiting time and improve hospital transparency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7599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D3D1-224D-01C1-4A8E-1A54DB01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533400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till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19516-322C-7907-DD2D-F1BCB185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057400"/>
            <a:ext cx="7315200" cy="403860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1960D1-101F-4647-ABF3-643429EE2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33868"/>
              </p:ext>
            </p:extLst>
          </p:nvPr>
        </p:nvGraphicFramePr>
        <p:xfrm>
          <a:off x="914400" y="2057400"/>
          <a:ext cx="7315200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10910318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6184831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88762956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Work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81717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Problem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Studied issues in hospital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79206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Design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Planned layout for mobile/web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7796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 demo for bed &amp; doctor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08430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Collecting sample data for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60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145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E607-25FE-1C88-DE6C-2E6BE4BA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IN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IN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511E9-F499-EFEB-2A71-7BBE0B56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7696200" cy="532453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features like online appointment booking and patient report tracking.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multiple hospitals to one platform for better reach.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AI suggestions for patient wellness and health tips.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hospitals and patients stay connected in real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crowding, saves time, and ensures better communication.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step toward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digital healthcare and wellness.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700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02BF-D718-A035-F4DF-6ABF6CB6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7114786" cy="553998"/>
          </a:xfrm>
        </p:spPr>
        <p:txBody>
          <a:bodyPr/>
          <a:lstStyle/>
          <a:p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168BD2-4784-4F28-9E14-1131FC6A9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186" y="1676400"/>
            <a:ext cx="6858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Oracle Java Documentation – Exception Handling</a:t>
            </a:r>
          </a:p>
          <a:p>
            <a:endParaRPr lang="en-IN" sz="2000" dirty="0"/>
          </a:p>
          <a:p>
            <a:r>
              <a:rPr lang="en-IN" sz="2000" dirty="0"/>
              <a:t>Java: The Complete Reference – Herbert Schildt</a:t>
            </a:r>
          </a:p>
          <a:p>
            <a:endParaRPr lang="en-IN" sz="2000" dirty="0"/>
          </a:p>
          <a:p>
            <a:r>
              <a:rPr lang="en-IN" sz="2000" dirty="0"/>
              <a:t>Java How to Program – Paul Deitel &amp; Harvey Deitel</a:t>
            </a:r>
          </a:p>
          <a:p>
            <a:endParaRPr lang="en-IN" sz="2000" dirty="0"/>
          </a:p>
          <a:p>
            <a:r>
              <a:rPr lang="en-IN" sz="2000" dirty="0"/>
              <a:t>Exception Handling in Java – </a:t>
            </a:r>
            <a:r>
              <a:rPr lang="en-IN" sz="2000" dirty="0" err="1"/>
              <a:t>GeeksforGeeks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Java Exception Handling Tutorial – </a:t>
            </a:r>
            <a:r>
              <a:rPr lang="en-IN" sz="2000" dirty="0" err="1"/>
              <a:t>TutorialsPoint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Unified </a:t>
            </a:r>
            <a:r>
              <a:rPr lang="en-IN" sz="2000" dirty="0" err="1"/>
              <a:t>Modeling</a:t>
            </a:r>
            <a:r>
              <a:rPr lang="en-IN" sz="2000" dirty="0"/>
              <a:t> Language (UML) Documentation – Object Management Group</a:t>
            </a:r>
          </a:p>
        </p:txBody>
      </p:sp>
    </p:spTree>
    <p:extLst>
      <p:ext uri="{BB962C8B-B14F-4D97-AF65-F5344CB8AC3E}">
        <p14:creationId xmlns:p14="http://schemas.microsoft.com/office/powerpoint/2010/main" val="421944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D4F7-319B-4D54-8D00-225154E2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2895600"/>
            <a:ext cx="2971800" cy="677108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10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</TotalTime>
  <Words>744</Words>
  <Application>Microsoft Office PowerPoint</Application>
  <PresentationFormat>On-screen Show (4:3)</PresentationFormat>
  <Paragraphs>145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 Bold</vt:lpstr>
      <vt:lpstr>Times New Roman</vt:lpstr>
      <vt:lpstr>Wingdings</vt:lpstr>
      <vt:lpstr>Office Theme</vt:lpstr>
      <vt:lpstr>PowerPoint Presentation</vt:lpstr>
      <vt:lpstr>PowerPoint Presentation</vt:lpstr>
      <vt:lpstr>Abstract </vt:lpstr>
      <vt:lpstr>Introduction</vt:lpstr>
      <vt:lpstr>Literature Survey/Research</vt:lpstr>
      <vt:lpstr>Proposed Work</vt:lpstr>
      <vt:lpstr>AEIOU Canvas</vt:lpstr>
      <vt:lpstr>Ideation Canvas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</vt:lpstr>
      <vt:lpstr>Novelty of Definition</vt:lpstr>
      <vt:lpstr>Solution</vt:lpstr>
      <vt:lpstr>Work carried out till date</vt:lpstr>
      <vt:lpstr>Future Work &amp; 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Review-1 IDT-I_PPT_Format 2025-26.pptx</dc:title>
  <dc:creator>Bansi Thanki</dc:creator>
  <cp:lastModifiedBy>Tirth Bhimani</cp:lastModifiedBy>
  <cp:revision>33</cp:revision>
  <dcterms:created xsi:type="dcterms:W3CDTF">2025-09-05T17:20:21Z</dcterms:created>
  <dcterms:modified xsi:type="dcterms:W3CDTF">2026-04-10T04:47:21Z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2025-09-05T00:00:00Z</vt:filetime>
  </property>
</Properties>
</file>