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95" r:id="rId3"/>
    <p:sldId id="282" r:id="rId4"/>
    <p:sldId id="271" r:id="rId5"/>
    <p:sldId id="272" r:id="rId6"/>
    <p:sldId id="285" r:id="rId7"/>
    <p:sldId id="287" r:id="rId8"/>
    <p:sldId id="288" r:id="rId9"/>
    <p:sldId id="291" r:id="rId10"/>
    <p:sldId id="292" r:id="rId11"/>
    <p:sldId id="293" r:id="rId12"/>
    <p:sldId id="294" r:id="rId13"/>
    <p:sldId id="274" r:id="rId14"/>
    <p:sldId id="276" r:id="rId15"/>
    <p:sldId id="275" r:id="rId16"/>
    <p:sldId id="277" r:id="rId17"/>
    <p:sldId id="278" r:id="rId18"/>
    <p:sldId id="279" r:id="rId19"/>
    <p:sldId id="284" r:id="rId20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1594" y="31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nsi" userId="c261fac0d0eb37aa" providerId="LiveId" clId="{4A3B41A5-FF4B-44B4-BE72-81D6AD68825E}"/>
    <pc:docChg chg="custSel delSld modSld">
      <pc:chgData name="Bansi" userId="c261fac0d0eb37aa" providerId="LiveId" clId="{4A3B41A5-FF4B-44B4-BE72-81D6AD68825E}" dt="2025-11-05T11:16:31.611" v="74" actId="255"/>
      <pc:docMkLst>
        <pc:docMk/>
      </pc:docMkLst>
      <pc:sldChg chg="modSp mod">
        <pc:chgData name="Bansi" userId="c261fac0d0eb37aa" providerId="LiveId" clId="{4A3B41A5-FF4B-44B4-BE72-81D6AD68825E}" dt="2025-11-05T11:16:31.611" v="74" actId="255"/>
        <pc:sldMkLst>
          <pc:docMk/>
          <pc:sldMk cId="0" sldId="256"/>
        </pc:sldMkLst>
        <pc:spChg chg="mod">
          <ac:chgData name="Bansi" userId="c261fac0d0eb37aa" providerId="LiveId" clId="{4A3B41A5-FF4B-44B4-BE72-81D6AD68825E}" dt="2025-11-05T11:16:31.611" v="74" actId="255"/>
          <ac:spMkLst>
            <pc:docMk/>
            <pc:sldMk cId="0" sldId="256"/>
            <ac:spMk id="4" creationId="{00000000-0000-0000-0000-000000000000}"/>
          </ac:spMkLst>
        </pc:spChg>
      </pc:sldChg>
      <pc:sldChg chg="modSp mod">
        <pc:chgData name="Bansi" userId="c261fac0d0eb37aa" providerId="LiveId" clId="{4A3B41A5-FF4B-44B4-BE72-81D6AD68825E}" dt="2025-11-05T09:55:17.820" v="48" actId="20577"/>
        <pc:sldMkLst>
          <pc:docMk/>
          <pc:sldMk cId="0" sldId="257"/>
        </pc:sldMkLst>
        <pc:spChg chg="mod">
          <ac:chgData name="Bansi" userId="c261fac0d0eb37aa" providerId="LiveId" clId="{4A3B41A5-FF4B-44B4-BE72-81D6AD68825E}" dt="2025-11-05T09:55:17.820" v="48" actId="20577"/>
          <ac:spMkLst>
            <pc:docMk/>
            <pc:sldMk cId="0" sldId="257"/>
            <ac:spMk id="3" creationId="{00000000-0000-0000-0000-000000000000}"/>
          </ac:spMkLst>
        </pc:spChg>
      </pc:sldChg>
      <pc:sldChg chg="del">
        <pc:chgData name="Bansi" userId="c261fac0d0eb37aa" providerId="LiveId" clId="{4A3B41A5-FF4B-44B4-BE72-81D6AD68825E}" dt="2025-11-05T09:54:23.858" v="29" actId="2696"/>
        <pc:sldMkLst>
          <pc:docMk/>
          <pc:sldMk cId="3172496348" sldId="286"/>
        </pc:sldMkLst>
      </pc:sldChg>
      <pc:sldChg chg="addSp delSp modSp mod">
        <pc:chgData name="Bansi" userId="c261fac0d0eb37aa" providerId="LiveId" clId="{4A3B41A5-FF4B-44B4-BE72-81D6AD68825E}" dt="2025-11-05T09:49:54.591" v="18" actId="14100"/>
        <pc:sldMkLst>
          <pc:docMk/>
          <pc:sldMk cId="785675348" sldId="287"/>
        </pc:sldMkLst>
        <pc:picChg chg="add del mod">
          <ac:chgData name="Bansi" userId="c261fac0d0eb37aa" providerId="LiveId" clId="{4A3B41A5-FF4B-44B4-BE72-81D6AD68825E}" dt="2025-11-05T09:47:24.148" v="1" actId="21"/>
          <ac:picMkLst>
            <pc:docMk/>
            <pc:sldMk cId="785675348" sldId="287"/>
            <ac:picMk id="5" creationId="{E6B11886-46E6-40E1-BD4D-6C5A5D31A0E6}"/>
          </ac:picMkLst>
        </pc:picChg>
        <pc:picChg chg="add mod">
          <ac:chgData name="Bansi" userId="c261fac0d0eb37aa" providerId="LiveId" clId="{4A3B41A5-FF4B-44B4-BE72-81D6AD68825E}" dt="2025-11-05T09:49:54.591" v="18" actId="14100"/>
          <ac:picMkLst>
            <pc:docMk/>
            <pc:sldMk cId="785675348" sldId="287"/>
            <ac:picMk id="7" creationId="{8BD32360-B3F8-4D36-BEBB-3A452491FF5F}"/>
          </ac:picMkLst>
        </pc:picChg>
      </pc:sldChg>
      <pc:sldChg chg="addSp modSp mod">
        <pc:chgData name="Bansi" userId="c261fac0d0eb37aa" providerId="LiveId" clId="{4A3B41A5-FF4B-44B4-BE72-81D6AD68825E}" dt="2025-11-05T09:50:50.035" v="23" actId="14100"/>
        <pc:sldMkLst>
          <pc:docMk/>
          <pc:sldMk cId="2653773152" sldId="288"/>
        </pc:sldMkLst>
        <pc:picChg chg="add mod">
          <ac:chgData name="Bansi" userId="c261fac0d0eb37aa" providerId="LiveId" clId="{4A3B41A5-FF4B-44B4-BE72-81D6AD68825E}" dt="2025-11-05T09:50:50.035" v="23" actId="14100"/>
          <ac:picMkLst>
            <pc:docMk/>
            <pc:sldMk cId="2653773152" sldId="288"/>
            <ac:picMk id="5" creationId="{B8B9ED7F-3750-4103-A729-8B33589DED0D}"/>
          </ac:picMkLst>
        </pc:picChg>
      </pc:sldChg>
      <pc:sldChg chg="addSp modSp mod">
        <pc:chgData name="Bansi" userId="c261fac0d0eb37aa" providerId="LiveId" clId="{4A3B41A5-FF4B-44B4-BE72-81D6AD68825E}" dt="2025-11-05T09:48:58.983" v="14" actId="14100"/>
        <pc:sldMkLst>
          <pc:docMk/>
          <pc:sldMk cId="2377661339" sldId="289"/>
        </pc:sldMkLst>
        <pc:picChg chg="add mod">
          <ac:chgData name="Bansi" userId="c261fac0d0eb37aa" providerId="LiveId" clId="{4A3B41A5-FF4B-44B4-BE72-81D6AD68825E}" dt="2025-11-05T09:48:58.983" v="14" actId="14100"/>
          <ac:picMkLst>
            <pc:docMk/>
            <pc:sldMk cId="2377661339" sldId="289"/>
            <ac:picMk id="4" creationId="{06FB893F-8075-4A4F-91D6-C67FAC5F9621}"/>
          </ac:picMkLst>
        </pc:picChg>
      </pc:sldChg>
      <pc:sldChg chg="addSp modSp mod">
        <pc:chgData name="Bansi" userId="c261fac0d0eb37aa" providerId="LiveId" clId="{4A3B41A5-FF4B-44B4-BE72-81D6AD68825E}" dt="2025-11-05T09:53:51.631" v="28" actId="14100"/>
        <pc:sldMkLst>
          <pc:docMk/>
          <pc:sldMk cId="3598885149" sldId="290"/>
        </pc:sldMkLst>
        <pc:picChg chg="add mod">
          <ac:chgData name="Bansi" userId="c261fac0d0eb37aa" providerId="LiveId" clId="{4A3B41A5-FF4B-44B4-BE72-81D6AD68825E}" dt="2025-11-05T09:53:51.631" v="28" actId="14100"/>
          <ac:picMkLst>
            <pc:docMk/>
            <pc:sldMk cId="3598885149" sldId="290"/>
            <ac:picMk id="5" creationId="{0C7EC5C3-518E-4DE2-B265-3121DCA6D8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183907" y="1453958"/>
            <a:ext cx="4776185" cy="1031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rgbClr val="262626"/>
                </a:solidFill>
                <a:latin typeface="Century Gothic Bold"/>
                <a:cs typeface="Century Gothic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95955" y="3465639"/>
            <a:ext cx="5952088" cy="1031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07-Mar-26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262626"/>
                </a:solidFill>
                <a:latin typeface="Century Gothic Bold"/>
                <a:cs typeface="Century Gothic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07-Mar-26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262626"/>
                </a:solidFill>
                <a:latin typeface="Century Gothic Bold"/>
                <a:cs typeface="Century Gothic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07-Mar-26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262626"/>
                </a:solidFill>
                <a:latin typeface="Century Gothic Bold"/>
                <a:cs typeface="Century Gothic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07-Mar-26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07-Mar-26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6625" y="196024"/>
            <a:ext cx="7114786" cy="10709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rgbClr val="262626"/>
                </a:solidFill>
                <a:latin typeface="Century Gothic Bold"/>
                <a:cs typeface="Century Gothic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57200" y="1577340"/>
            <a:ext cx="82296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07-Mar-26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816" y="1240916"/>
            <a:ext cx="7340600" cy="1491114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957705" marR="5080" indent="-1945639">
              <a:lnSpc>
                <a:spcPct val="101699"/>
              </a:lnSpc>
              <a:spcBef>
                <a:spcPts val="50"/>
              </a:spcBef>
            </a:pPr>
            <a:r>
              <a:rPr sz="2400" b="1" dirty="0">
                <a:latin typeface="Times New Roman"/>
                <a:cs typeface="Times New Roman"/>
              </a:rPr>
              <a:t>School</a:t>
            </a:r>
            <a:r>
              <a:rPr sz="2400" b="1" spc="-7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of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Technology,</a:t>
            </a:r>
            <a:r>
              <a:rPr sz="2400" b="1" spc="-4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Design</a:t>
            </a:r>
            <a:r>
              <a:rPr sz="2400" b="1" spc="-4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and</a:t>
            </a:r>
            <a:r>
              <a:rPr sz="2400" b="1" spc="-4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Computer</a:t>
            </a:r>
            <a:r>
              <a:rPr sz="2400" b="1" spc="-18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Application </a:t>
            </a:r>
            <a:endParaRPr sz="2400" dirty="0">
              <a:latin typeface="Times New Roman"/>
              <a:cs typeface="Times New Roman"/>
            </a:endParaRPr>
          </a:p>
          <a:p>
            <a:pPr marL="662305" marR="650240" indent="1487805">
              <a:lnSpc>
                <a:spcPct val="100000"/>
              </a:lnSpc>
            </a:pPr>
            <a:r>
              <a:rPr sz="2400" b="1" dirty="0">
                <a:latin typeface="Times New Roman"/>
                <a:cs typeface="Times New Roman"/>
              </a:rPr>
              <a:t>Bachelor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of</a:t>
            </a:r>
            <a:r>
              <a:rPr sz="2400" b="1" spc="-7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Technology </a:t>
            </a:r>
            <a:endParaRPr sz="2400" dirty="0">
              <a:latin typeface="Times New Roman"/>
              <a:cs typeface="Times New Roman"/>
            </a:endParaRPr>
          </a:p>
          <a:p>
            <a:pPr marL="889635">
              <a:lnSpc>
                <a:spcPct val="100000"/>
              </a:lnSpc>
            </a:pPr>
            <a:r>
              <a:rPr sz="2400" b="1" dirty="0">
                <a:latin typeface="Times New Roman"/>
                <a:cs typeface="Times New Roman"/>
              </a:rPr>
              <a:t>Department</a:t>
            </a:r>
            <a:r>
              <a:rPr sz="2400" b="1" spc="-5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of</a:t>
            </a:r>
            <a:r>
              <a:rPr sz="2400" b="1" spc="-5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Computer</a:t>
            </a:r>
            <a:r>
              <a:rPr sz="2400" b="1" spc="-10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Engineering</a:t>
            </a:r>
            <a:r>
              <a:rPr sz="2400" b="1" spc="-50" dirty="0">
                <a:latin typeface="Times New Roman"/>
                <a:cs typeface="Times New Roman"/>
              </a:rPr>
              <a:t> </a:t>
            </a:r>
            <a:r>
              <a:rPr sz="2400" b="1" spc="-20" dirty="0">
                <a:latin typeface="Times New Roman"/>
                <a:cs typeface="Times New Roman"/>
              </a:rPr>
              <a:t>(04)</a:t>
            </a:r>
            <a:endParaRPr lang="en-US" sz="2400" b="1" spc="-20" dirty="0">
              <a:latin typeface="Times New Roman"/>
              <a:cs typeface="Times New Roman"/>
            </a:endParaRPr>
          </a:p>
          <a:p>
            <a:pPr marL="889635">
              <a:lnSpc>
                <a:spcPct val="100000"/>
              </a:lnSpc>
            </a:pPr>
            <a:r>
              <a:rPr lang="en-US" sz="2400" b="1" dirty="0">
                <a:latin typeface="Times New Roman"/>
                <a:cs typeface="Times New Roman"/>
              </a:rPr>
              <a:t>SUBJECT: Innovation and Design Thinking(2)</a:t>
            </a:r>
            <a:endParaRPr sz="2400" b="1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85800" y="4406221"/>
            <a:ext cx="3886200" cy="2367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latin typeface="Times New Roman"/>
                <a:cs typeface="Times New Roman"/>
              </a:rPr>
              <a:t>Group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Members</a:t>
            </a:r>
            <a:r>
              <a:rPr lang="en-US" sz="2800" spc="-10" dirty="0">
                <a:latin typeface="Times New Roman"/>
                <a:cs typeface="Times New Roman"/>
              </a:rPr>
              <a:t> :-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spc="-10" dirty="0">
                <a:latin typeface="Times New Roman"/>
                <a:cs typeface="Times New Roman"/>
              </a:rPr>
              <a:t>Rensi-60(</a:t>
            </a:r>
            <a:r>
              <a:rPr lang="en-US" sz="2000" spc="-10" dirty="0" err="1">
                <a:latin typeface="Times New Roman"/>
                <a:cs typeface="Times New Roman"/>
              </a:rPr>
              <a:t>En.No</a:t>
            </a:r>
            <a:r>
              <a:rPr lang="en-US" sz="2000" spc="-10" dirty="0">
                <a:latin typeface="Times New Roman"/>
                <a:cs typeface="Times New Roman"/>
              </a:rPr>
              <a:t>:-2502030430086)</a:t>
            </a:r>
          </a:p>
          <a:p>
            <a:pPr marL="12700">
              <a:spcBef>
                <a:spcPts val="100"/>
              </a:spcBef>
            </a:pPr>
            <a:r>
              <a:rPr lang="en-US" sz="2000" spc="-10" dirty="0">
                <a:latin typeface="Times New Roman"/>
                <a:cs typeface="Times New Roman"/>
              </a:rPr>
              <a:t>Bansi-06(</a:t>
            </a:r>
            <a:r>
              <a:rPr lang="en-US" sz="2000" spc="-10" dirty="0" err="1">
                <a:latin typeface="Times New Roman"/>
                <a:cs typeface="Times New Roman"/>
              </a:rPr>
              <a:t>En.No</a:t>
            </a:r>
            <a:r>
              <a:rPr lang="en-US" sz="2000" spc="-10" dirty="0">
                <a:latin typeface="Times New Roman"/>
                <a:cs typeface="Times New Roman"/>
              </a:rPr>
              <a:t>:-2502030430031)</a:t>
            </a:r>
          </a:p>
          <a:p>
            <a:pPr marL="12700">
              <a:spcBef>
                <a:spcPts val="100"/>
              </a:spcBef>
            </a:pPr>
            <a:r>
              <a:rPr lang="en-US" sz="2000" spc="-10" dirty="0">
                <a:latin typeface="Times New Roman"/>
                <a:cs typeface="Times New Roman"/>
              </a:rPr>
              <a:t>Hitaxi-30(</a:t>
            </a:r>
            <a:r>
              <a:rPr lang="en-US" sz="2000" spc="-10" dirty="0" err="1">
                <a:latin typeface="Times New Roman"/>
                <a:cs typeface="Times New Roman"/>
              </a:rPr>
              <a:t>En.No</a:t>
            </a:r>
            <a:r>
              <a:rPr lang="en-US" sz="2000" spc="-10" dirty="0">
                <a:latin typeface="Times New Roman"/>
                <a:cs typeface="Times New Roman"/>
              </a:rPr>
              <a:t>:-2502030430055)</a:t>
            </a:r>
          </a:p>
          <a:p>
            <a:pPr marL="12700">
              <a:spcBef>
                <a:spcPts val="100"/>
              </a:spcBef>
            </a:pPr>
            <a:r>
              <a:rPr lang="en-US" sz="2000" spc="-10" dirty="0">
                <a:latin typeface="Times New Roman"/>
                <a:cs typeface="Times New Roman"/>
              </a:rPr>
              <a:t>Kokay-81(</a:t>
            </a:r>
            <a:r>
              <a:rPr lang="en-US" sz="2000" spc="-10" dirty="0" err="1">
                <a:latin typeface="Times New Roman"/>
                <a:cs typeface="Times New Roman"/>
              </a:rPr>
              <a:t>En.No</a:t>
            </a:r>
            <a:r>
              <a:rPr lang="en-US" sz="2000" spc="-10" dirty="0">
                <a:latin typeface="Times New Roman"/>
                <a:cs typeface="Times New Roman"/>
              </a:rPr>
              <a:t>:-2502030430108)</a:t>
            </a:r>
          </a:p>
          <a:p>
            <a:pPr marL="12700">
              <a:spcBef>
                <a:spcPts val="100"/>
              </a:spcBef>
            </a:pPr>
            <a:r>
              <a:rPr lang="en-US" sz="2000" spc="-10" dirty="0">
                <a:latin typeface="Times New Roman"/>
                <a:cs typeface="Times New Roman"/>
              </a:rPr>
              <a:t>Kinjal-19(</a:t>
            </a:r>
            <a:r>
              <a:rPr lang="en-US" sz="2000" spc="-10" dirty="0" err="1">
                <a:latin typeface="Times New Roman"/>
                <a:cs typeface="Times New Roman"/>
              </a:rPr>
              <a:t>En.No</a:t>
            </a:r>
            <a:r>
              <a:rPr lang="en-US" sz="2000" spc="-10" dirty="0">
                <a:latin typeface="Times New Roman"/>
                <a:cs typeface="Times New Roman"/>
              </a:rPr>
              <a:t>:-2502030430044)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000" dirty="0">
                <a:latin typeface="Times New Roman"/>
                <a:cs typeface="Times New Roman"/>
              </a:rPr>
              <a:t>Tirth-</a:t>
            </a:r>
            <a:r>
              <a:rPr lang="en-US" sz="2000" spc="-10" dirty="0">
                <a:latin typeface="Times New Roman"/>
                <a:cs typeface="Times New Roman"/>
              </a:rPr>
              <a:t>73(</a:t>
            </a:r>
            <a:r>
              <a:rPr lang="en-US" sz="2000" spc="-10" dirty="0" err="1">
                <a:latin typeface="Times New Roman"/>
                <a:cs typeface="Times New Roman"/>
              </a:rPr>
              <a:t>En.No</a:t>
            </a:r>
            <a:r>
              <a:rPr lang="en-US" sz="2000" spc="-10" dirty="0">
                <a:latin typeface="Times New Roman"/>
                <a:cs typeface="Times New Roman"/>
              </a:rPr>
              <a:t>:-2502030430100)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08893" y="4465415"/>
            <a:ext cx="3241040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Internal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Faculty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Guide</a:t>
            </a:r>
            <a:endParaRPr lang="en-US" sz="2400" spc="-1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-10" dirty="0">
                <a:latin typeface="Times New Roman"/>
                <a:cs typeface="Times New Roman"/>
              </a:rPr>
              <a:t>Prof. Kruti Sheth</a:t>
            </a:r>
            <a:endParaRPr sz="2400" dirty="0">
              <a:latin typeface="Times New Roman"/>
              <a:cs typeface="Times New Roman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14575" y="73025"/>
            <a:ext cx="4414838" cy="97154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588729" y="3034578"/>
            <a:ext cx="6344774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Hospital Resource &amp; Appointment Management System</a:t>
            </a:r>
            <a:endParaRPr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1C172-FBA9-CE8A-8F80-0508A627EF2B}"/>
              </a:ext>
            </a:extLst>
          </p:cNvPr>
          <p:cNvSpPr txBox="1"/>
          <p:nvPr/>
        </p:nvSpPr>
        <p:spPr>
          <a:xfrm>
            <a:off x="609600" y="68580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spc="-35" dirty="0">
                <a:latin typeface="Times New Roman"/>
                <a:cs typeface="Times New Roman"/>
              </a:rPr>
              <a:t>Table</a:t>
            </a:r>
            <a:r>
              <a:rPr lang="en-IN" sz="3600" b="1" spc="-110" dirty="0">
                <a:latin typeface="Times New Roman"/>
                <a:cs typeface="Times New Roman"/>
              </a:rPr>
              <a:t> </a:t>
            </a:r>
            <a:r>
              <a:rPr lang="en-IN" sz="3600" b="1" dirty="0">
                <a:latin typeface="Times New Roman"/>
                <a:cs typeface="Times New Roman"/>
              </a:rPr>
              <a:t>of</a:t>
            </a:r>
            <a:r>
              <a:rPr lang="en-IN" sz="3600" b="1" spc="-100" dirty="0">
                <a:latin typeface="Times New Roman"/>
                <a:cs typeface="Times New Roman"/>
              </a:rPr>
              <a:t> </a:t>
            </a:r>
            <a:r>
              <a:rPr lang="en-IN" sz="3600" b="1" spc="-10" dirty="0">
                <a:latin typeface="Times New Roman"/>
                <a:cs typeface="Times New Roman"/>
              </a:rPr>
              <a:t>Content</a:t>
            </a:r>
            <a:endParaRPr lang="en-IN" sz="3600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BF6DB4B-277F-1FD1-A368-5C0CFAAD3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39129"/>
              </p:ext>
            </p:extLst>
          </p:nvPr>
        </p:nvGraphicFramePr>
        <p:xfrm>
          <a:off x="1371600" y="2209800"/>
          <a:ext cx="5766118" cy="2763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18118">
                  <a:extLst>
                    <a:ext uri="{9D8B030D-6E8A-4147-A177-3AD203B41FA5}">
                      <a16:colId xmlns:a16="http://schemas.microsoft.com/office/drawing/2014/main" val="130757993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327046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1270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>
                          <a:tab pos="278765" algn="l"/>
                        </a:tabLst>
                        <a:defRPr/>
                      </a:pPr>
                      <a:r>
                        <a:rPr lang="en-IN" sz="1800" b="0" spc="-10" dirty="0">
                          <a:latin typeface="Times New Roman"/>
                          <a:cs typeface="Times New Roman"/>
                        </a:rPr>
                        <a:t>Abstract</a:t>
                      </a:r>
                      <a:endParaRPr lang="en-IN" sz="1800" b="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spc="-20" dirty="0">
                          <a:latin typeface="Times New Roman"/>
                          <a:cs typeface="Times New Roman"/>
                        </a:rPr>
                        <a:t>Prototype Screenshot </a:t>
                      </a:r>
                      <a:endParaRPr lang="en-US" sz="1800" b="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760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spc="-10" dirty="0"/>
                        <a:t>Introduction</a:t>
                      </a:r>
                      <a:endParaRPr lang="en-IN" sz="18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spc="-10" dirty="0">
                          <a:latin typeface="Times New Roman"/>
                          <a:cs typeface="Times New Roman"/>
                        </a:rPr>
                        <a:t>Problem</a:t>
                      </a:r>
                      <a:endParaRPr lang="en-IN" sz="18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266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dirty="0"/>
                        <a:t>Literature</a:t>
                      </a:r>
                      <a:r>
                        <a:rPr lang="en-IN" sz="1800" spc="-50" dirty="0"/>
                        <a:t> </a:t>
                      </a:r>
                      <a:r>
                        <a:rPr lang="en-IN" sz="1800" spc="-10" dirty="0"/>
                        <a:t>Survey/Research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spc="-10" dirty="0">
                          <a:latin typeface="Times New Roman"/>
                          <a:cs typeface="Times New Roman"/>
                        </a:rPr>
                        <a:t>Solution</a:t>
                      </a:r>
                      <a:endParaRPr lang="en-US" sz="18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336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dirty="0"/>
                        <a:t>Proposed</a:t>
                      </a:r>
                      <a:r>
                        <a:rPr lang="en-IN" sz="1800" spc="-55" dirty="0"/>
                        <a:t> </a:t>
                      </a:r>
                      <a:r>
                        <a:rPr lang="en-IN" sz="1800" spc="-20" dirty="0"/>
                        <a:t>Work</a:t>
                      </a:r>
                      <a:endParaRPr lang="en-IN" sz="1800" spc="-2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Novelty of </a:t>
                      </a:r>
                      <a:r>
                        <a:rPr lang="en-US" sz="1800" spc="-10" dirty="0">
                          <a:latin typeface="Times New Roman"/>
                          <a:cs typeface="Times New Roman"/>
                        </a:rPr>
                        <a:t>definition</a:t>
                      </a:r>
                      <a:endParaRPr lang="en-US" sz="18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7189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spc="-20" dirty="0"/>
                        <a:t>AEIOU Canvas</a:t>
                      </a:r>
                      <a:endParaRPr lang="en-US" sz="1800" spc="-2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spc="-20" dirty="0">
                          <a:latin typeface="Times New Roman"/>
                          <a:cs typeface="Times New Roman"/>
                        </a:rPr>
                        <a:t>Worked</a:t>
                      </a:r>
                      <a:r>
                        <a:rPr lang="en-US" sz="18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carried</a:t>
                      </a:r>
                      <a:r>
                        <a:rPr lang="en-US" sz="18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out</a:t>
                      </a:r>
                      <a:r>
                        <a:rPr lang="en-US" sz="18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till</a:t>
                      </a:r>
                      <a:r>
                        <a:rPr lang="en-US" sz="18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1800" spc="-20" dirty="0">
                          <a:latin typeface="Times New Roman"/>
                          <a:cs typeface="Times New Roman"/>
                        </a:rPr>
                        <a:t>date(Table</a:t>
                      </a:r>
                      <a:r>
                        <a:rPr lang="en-US" sz="18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1800" spc="-10" dirty="0">
                          <a:latin typeface="Times New Roman"/>
                          <a:cs typeface="Times New Roman"/>
                        </a:rPr>
                        <a:t>format)</a:t>
                      </a:r>
                      <a:endParaRPr lang="en-US" sz="180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596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spc="-20" dirty="0"/>
                        <a:t>Ideation Canvas</a:t>
                      </a:r>
                      <a:endParaRPr lang="en-US" sz="1800" spc="-20" dirty="0"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2700" indent="0">
                        <a:lnSpc>
                          <a:spcPct val="100000"/>
                        </a:lnSpc>
                        <a:spcBef>
                          <a:spcPts val="800"/>
                        </a:spcBef>
                        <a:buNone/>
                        <a:tabLst>
                          <a:tab pos="279400" algn="l"/>
                        </a:tabLst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Future</a:t>
                      </a:r>
                      <a:r>
                        <a:rPr lang="en-US" sz="1800" spc="-1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1800" spc="-30" dirty="0">
                          <a:latin typeface="Times New Roman"/>
                          <a:cs typeface="Times New Roman"/>
                        </a:rPr>
                        <a:t>Work</a:t>
                      </a:r>
                      <a:r>
                        <a:rPr lang="en-US" sz="1800" spc="-60" dirty="0">
                          <a:latin typeface="Times New Roman"/>
                          <a:cs typeface="Times New Roman"/>
                        </a:rPr>
                        <a:t>, </a:t>
                      </a:r>
                      <a:r>
                        <a:rPr lang="en-US" sz="1800" spc="-10" dirty="0">
                          <a:latin typeface="Times New Roman"/>
                          <a:cs typeface="Times New Roman"/>
                        </a:rPr>
                        <a:t>Conclusion </a:t>
                      </a:r>
                      <a:r>
                        <a:rPr lang="en-US" sz="1800" spc="0" dirty="0">
                          <a:latin typeface="Times New Roman"/>
                          <a:cs typeface="Times New Roman"/>
                        </a:rPr>
                        <a:t>&amp; </a:t>
                      </a:r>
                      <a:r>
                        <a:rPr lang="en-US" sz="1800" spc="-10" dirty="0">
                          <a:latin typeface="Times New Roman"/>
                          <a:cs typeface="Times New Roman"/>
                        </a:rPr>
                        <a:t>References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301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0886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E794-4F3E-417E-B2BC-A85F3B99C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15637"/>
            <a:ext cx="7114786" cy="1107996"/>
          </a:xfrm>
        </p:spPr>
        <p:txBody>
          <a:bodyPr/>
          <a:lstStyle/>
          <a:p>
            <a:r>
              <a:rPr lang="en-US" sz="3600" spc="-10" dirty="0">
                <a:latin typeface="Times New Roman"/>
                <a:cs typeface="Times New Roman"/>
              </a:rPr>
              <a:t>Abstract</a:t>
            </a:r>
            <a:br>
              <a:rPr lang="en-US" sz="3600" dirty="0">
                <a:latin typeface="Times New Roman"/>
                <a:cs typeface="Times New Roman"/>
              </a:rPr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CED82-68D3-431B-B910-A12FD5EB06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133600"/>
            <a:ext cx="8229600" cy="4278094"/>
          </a:xfrm>
        </p:spPr>
        <p:txBody>
          <a:bodyPr/>
          <a:lstStyle/>
          <a:p>
            <a:pPr marL="285750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project “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Hospital Resource &amp; Appointment Management System</a:t>
            </a: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focuses on improving hospital and patient management using online technology.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helps patients easily check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bed availability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doctor timing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appointment status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from their mobile phones.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gives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updates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 avoid long waiting hours and make hospital operations more efficient.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526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41B96-BB17-2F22-B640-ADDC8B109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33724"/>
            <a:ext cx="7114786" cy="553998"/>
          </a:xfrm>
        </p:spPr>
        <p:txBody>
          <a:bodyPr/>
          <a:lstStyle/>
          <a:p>
            <a:r>
              <a:rPr lang="en-IN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261DF1-7F29-4A98-E8F2-73E0DB95B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286000"/>
            <a:ext cx="7696200" cy="3046988"/>
          </a:xfrm>
        </p:spPr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today’s world, managing healthcare efficiently is very important.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hospitals still use manual systems for patient entry and updates.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causes problems like waiting in lines, lack of communication, and delayed updates.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system focuses on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digitalizing healthcare services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improve patient convenience and hospital management.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738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6E8C4-F450-E16E-EF6D-E9E112454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57200"/>
            <a:ext cx="7114786" cy="55399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IN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Survey/Research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5D37BC-C44A-045D-84A0-4D6C62CCA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8382000" cy="5410199"/>
          </a:xfrm>
        </p:spPr>
        <p:txBody>
          <a:bodyPr/>
          <a:lstStyle/>
          <a:p>
            <a:endParaRPr lang="en-IN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C6C9C792-3E0B-4418-A31D-F920F8D46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177858"/>
              </p:ext>
            </p:extLst>
          </p:nvPr>
        </p:nvGraphicFramePr>
        <p:xfrm>
          <a:off x="381000" y="1371600"/>
          <a:ext cx="8381999" cy="4862941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38983">
                  <a:extLst>
                    <a:ext uri="{9D8B030D-6E8A-4147-A177-3AD203B41FA5}">
                      <a16:colId xmlns:a16="http://schemas.microsoft.com/office/drawing/2014/main" val="2784701329"/>
                    </a:ext>
                  </a:extLst>
                </a:gridCol>
                <a:gridCol w="2547672">
                  <a:extLst>
                    <a:ext uri="{9D8B030D-6E8A-4147-A177-3AD203B41FA5}">
                      <a16:colId xmlns:a16="http://schemas.microsoft.com/office/drawing/2014/main" val="1175677065"/>
                    </a:ext>
                  </a:extLst>
                </a:gridCol>
                <a:gridCol w="2547672">
                  <a:extLst>
                    <a:ext uri="{9D8B030D-6E8A-4147-A177-3AD203B41FA5}">
                      <a16:colId xmlns:a16="http://schemas.microsoft.com/office/drawing/2014/main" val="3732146261"/>
                    </a:ext>
                  </a:extLst>
                </a:gridCol>
                <a:gridCol w="2547672">
                  <a:extLst>
                    <a:ext uri="{9D8B030D-6E8A-4147-A177-3AD203B41FA5}">
                      <a16:colId xmlns:a16="http://schemas.microsoft.com/office/drawing/2014/main" val="2329953633"/>
                    </a:ext>
                  </a:extLst>
                </a:gridCol>
              </a:tblGrid>
              <a:tr h="711789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Sr. No.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/ Research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Technology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Findings / Outcome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986887"/>
                  </a:ext>
                </a:extLst>
              </a:tr>
              <a:tr h="1302322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IoT-Based Smart Healthcare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IoT, 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Real-time health data collection using sensors and remote monitoring of patients.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30014"/>
                  </a:ext>
                </a:extLst>
              </a:tr>
              <a:tr h="1302322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Online Hospital Management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Web,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Simplifies hospital operations like appointments, billing, and bed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0271224"/>
                  </a:ext>
                </a:extLst>
              </a:tr>
              <a:tr h="1546508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Doctor Appointment &amp; Scheduling Portal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Android, PHP, 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Helps patients book and track doctor appointments online, reducing waiting time.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915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233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B98C5-0A79-4E1B-9361-01650F731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024" y="914400"/>
            <a:ext cx="7114786" cy="553998"/>
          </a:xfrm>
        </p:spPr>
        <p:txBody>
          <a:bodyPr/>
          <a:lstStyle/>
          <a:p>
            <a: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</a:t>
            </a:r>
            <a:r>
              <a:rPr lang="en-IN" spc="-19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2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743ECB-D849-4FA5-9C53-7CA33F80B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057400"/>
            <a:ext cx="7467600" cy="2800767"/>
          </a:xfrm>
        </p:spPr>
        <p:txBody>
          <a:bodyPr/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 an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system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 show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live bed availability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doctor timings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patient queue status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Patients can check updates easily on their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mobile phones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Hospital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staff can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update information instantly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through an admin panel.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Helps reduce waiting time, manage crowds, and improve hospital communication.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247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B3B1-13A8-443D-9E2E-D25D90CE2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64" y="685800"/>
            <a:ext cx="7114786" cy="55399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AEIOU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Canvas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6952B-4FEE-4130-AACC-B94E2212D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B8C379-EA0B-1959-4205-44113FD1C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64" y="1577340"/>
            <a:ext cx="8250937" cy="452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675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E079-804C-4851-9E19-AE6E4305E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51510"/>
            <a:ext cx="7114786" cy="55399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Ideation Canvas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B4BCA5-D0C0-4258-8228-54031B7545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3DA92-5532-DFF0-C1D3-5AB6C157A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32244" y="-202785"/>
            <a:ext cx="4679511" cy="822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773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AB5F3-5324-4D9C-A945-F8B1AEF16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838200"/>
            <a:ext cx="7114786" cy="107092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 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100AE01E-3D42-4DD2-A069-5ACFA5FE9A4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7200" y="2152638"/>
            <a:ext cx="3978275" cy="3376636"/>
          </a:xfr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E2B0BD0D-EB5C-4962-86D1-26C3D1AB1DFA}"/>
              </a:ext>
            </a:extLst>
          </p:cNvPr>
          <p:cNvPicPr>
            <a:picLocks noGrp="1" noChangeAspect="1"/>
          </p:cNvPicPr>
          <p:nvPr>
            <p:ph sz="half" idx="3"/>
          </p:nvPr>
        </p:nvPicPr>
        <p:blipFill>
          <a:blip r:embed="rId3"/>
          <a:stretch>
            <a:fillRect/>
          </a:stretch>
        </p:blipFill>
        <p:spPr>
          <a:xfrm>
            <a:off x="4708525" y="2971297"/>
            <a:ext cx="3978275" cy="1739319"/>
          </a:xfrm>
        </p:spPr>
      </p:pic>
    </p:spTree>
    <p:extLst>
      <p:ext uri="{BB962C8B-B14F-4D97-AF65-F5344CB8AC3E}">
        <p14:creationId xmlns:p14="http://schemas.microsoft.com/office/powerpoint/2010/main" val="1785621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C5359B0-CAAB-44C8-8E1B-E059304D8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616490"/>
            <a:ext cx="7114786" cy="55399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2AEFC-3548-4E7B-8CD7-52001CAA6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7FE6F8-E365-4874-895D-867B61F98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37046"/>
            <a:ext cx="8229600" cy="400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66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DEAB9-D089-4F3B-9F77-5F9F0EDCA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672" y="626355"/>
            <a:ext cx="7114786" cy="55399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60DA64-54D7-4A8F-BB6F-87C067BFD1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534C2-246F-4171-A2DD-B1D350A7B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1"/>
            <a:ext cx="8153400" cy="4041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733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337AD-CFE0-4B58-96B8-7B4A80DD6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40875"/>
            <a:ext cx="7114786" cy="107092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41A82AF-18EB-4E71-B97B-598CF62CA6A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7200" y="1446264"/>
            <a:ext cx="3978275" cy="4649093"/>
          </a:xfr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9A7EAB-690D-43F7-8C85-C8FC05851AA6}"/>
              </a:ext>
            </a:extLst>
          </p:cNvPr>
          <p:cNvSpPr>
            <a:spLocks noGrp="1"/>
          </p:cNvSpPr>
          <p:nvPr>
            <p:ph sz="half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9066BE-B033-4CF8-B105-7F34171E7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446264"/>
            <a:ext cx="3977640" cy="4649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265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22CF9-CF7D-B20B-3370-6A33AA6BC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2000"/>
            <a:ext cx="7114786" cy="553998"/>
          </a:xfrm>
        </p:spPr>
        <p:txBody>
          <a:bodyPr/>
          <a:lstStyle/>
          <a:p>
            <a:r>
              <a:rPr lang="en-IN" spc="-1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BCFA58F-AF19-4419-A25A-703A9D412B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485990"/>
            <a:ext cx="8229600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Bed Availability: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Patients do not know if beds are available in hospitals until they visit physically.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Long Waiting Queues: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Patients have to stand outside the hospital for a long time to get their case number or appointment.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Doctor Availability: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Patients are not informed about which doctors are present or when they will arrive.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Real-time Updates: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There is no system to give immediate updates about hospital changes or doctor schedules.</a:t>
            </a:r>
          </a:p>
        </p:txBody>
      </p:sp>
    </p:spTree>
    <p:extLst>
      <p:ext uri="{BB962C8B-B14F-4D97-AF65-F5344CB8AC3E}">
        <p14:creationId xmlns:p14="http://schemas.microsoft.com/office/powerpoint/2010/main" val="25984493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F131-0936-201C-B546-A85793DE2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371600"/>
            <a:ext cx="7114786" cy="553998"/>
          </a:xfrm>
        </p:spPr>
        <p:txBody>
          <a:bodyPr/>
          <a:lstStyle/>
          <a:p>
            <a: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Novelty</a:t>
            </a:r>
            <a:r>
              <a:rPr lang="en-IN" spc="-114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n-IN" spc="-105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8FA61C4-34F4-4FE8-871C-2A2C253D10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2409319"/>
            <a:ext cx="739140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hospital data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directly on mobile phones.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Combines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doctor timing, bed info, and patient queue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one platform.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automatic updates and notifications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patients and staff.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Improves both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healthcare access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wellness experience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users.</a:t>
            </a:r>
          </a:p>
        </p:txBody>
      </p:sp>
    </p:spTree>
    <p:extLst>
      <p:ext uri="{BB962C8B-B14F-4D97-AF65-F5344CB8AC3E}">
        <p14:creationId xmlns:p14="http://schemas.microsoft.com/office/powerpoint/2010/main" val="231712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C4AE3-D4FF-0707-BC8D-63D0E540D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66800"/>
            <a:ext cx="7114786" cy="973780"/>
          </a:xfrm>
        </p:spPr>
        <p:txBody>
          <a:bodyPr/>
          <a:lstStyle/>
          <a:p>
            <a:r>
              <a:rPr lang="en-IN" spc="-1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9412E00-AAE6-4C4C-AA3D-29781170C2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1" y="2101544"/>
            <a:ext cx="8229600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 an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healthcare management system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that shows: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Live bed status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on a mobile app or website.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Doctor’s schedule and availability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real time.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queue system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patients to take tokens online.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Instant notifications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any update or change in hospital information.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Helps reduce waiting time and improve hospital transparency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7599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9D3D1-224D-01C1-4A8E-1A54DB017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25" y="533400"/>
            <a:ext cx="7114786" cy="55399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r>
              <a:rPr lang="en-US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carried</a:t>
            </a:r>
            <a:r>
              <a:rPr lang="en-US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till</a:t>
            </a:r>
            <a:r>
              <a:rPr lang="en-US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19516-322C-7907-DD2D-F1BCB1858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057400"/>
            <a:ext cx="7315200" cy="4038600"/>
          </a:xfrm>
        </p:spPr>
        <p:txBody>
          <a:bodyPr/>
          <a:lstStyle/>
          <a:p>
            <a:endParaRPr lang="en-IN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51960D1-101F-4647-ABF3-643429EE2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433868"/>
              </p:ext>
            </p:extLst>
          </p:nvPr>
        </p:nvGraphicFramePr>
        <p:xfrm>
          <a:off x="914400" y="2057400"/>
          <a:ext cx="7315200" cy="3962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110910318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56184831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88762956"/>
                    </a:ext>
                  </a:extLst>
                </a:gridCol>
              </a:tblGrid>
              <a:tr h="792480">
                <a:tc>
                  <a:txBody>
                    <a:bodyPr/>
                    <a:lstStyle/>
                    <a:p>
                      <a:r>
                        <a:rPr lang="en-US" dirty="0"/>
                        <a:t>Work 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817178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lang="en-US" dirty="0"/>
                        <a:t>Problem 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Studied issues in hospital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792061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lang="en-US" dirty="0"/>
                        <a:t>Design Phase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Planned layout for mobile/web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177960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lang="en-US" dirty="0"/>
                        <a:t>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Created demo for bed &amp; doctor updates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Progress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084308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lang="en-US" dirty="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Collecting sample data for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Pending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605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2145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2E607-25FE-1C88-DE6C-2E6BE4BA3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25" y="196024"/>
            <a:ext cx="7114786" cy="55399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</a:t>
            </a:r>
            <a:r>
              <a:rPr lang="en-IN" spc="-1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r>
              <a:rPr lang="en-IN" spc="-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en-IN" spc="-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1511E9-F499-EFEB-2A71-7BBE0B569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066800"/>
            <a:ext cx="7696200" cy="5324535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Work: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features like online appointment booking and patient report tracking.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 multiple hospitals to one platform for better reach.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 AI suggestions for patient wellness and health tips.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helps hospitals and patients stay connected in real time.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reduces crowding, saves time, and ensures better communication.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small step toward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smart, digital healthcare and wellness.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7700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302BF-D718-A035-F4DF-6ABF6CB68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7114786" cy="553998"/>
          </a:xfrm>
        </p:spPr>
        <p:txBody>
          <a:bodyPr/>
          <a:lstStyle/>
          <a:p>
            <a:r>
              <a:rPr lang="en-IN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168BD2-4784-4F28-9E14-1131FC6A91A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90186" y="1676400"/>
            <a:ext cx="68580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2000" dirty="0"/>
              <a:t>Oracle Java Documentation – Exception Handling</a:t>
            </a:r>
          </a:p>
          <a:p>
            <a:endParaRPr lang="en-IN" sz="2000" dirty="0"/>
          </a:p>
          <a:p>
            <a:r>
              <a:rPr lang="en-IN" sz="2000" dirty="0"/>
              <a:t>Java: The Complete Reference – Herbert Schildt</a:t>
            </a:r>
          </a:p>
          <a:p>
            <a:endParaRPr lang="en-IN" sz="2000" dirty="0"/>
          </a:p>
          <a:p>
            <a:r>
              <a:rPr lang="en-IN" sz="2000" dirty="0"/>
              <a:t>Java How to Program – Paul Deitel &amp; Harvey Deitel</a:t>
            </a:r>
          </a:p>
          <a:p>
            <a:endParaRPr lang="en-IN" sz="2000" dirty="0"/>
          </a:p>
          <a:p>
            <a:r>
              <a:rPr lang="en-IN" sz="2000" dirty="0"/>
              <a:t>Exception Handling in Java – </a:t>
            </a:r>
            <a:r>
              <a:rPr lang="en-IN" sz="2000" dirty="0" err="1"/>
              <a:t>GeeksforGeeks</a:t>
            </a:r>
            <a:endParaRPr lang="en-IN" sz="2000" dirty="0"/>
          </a:p>
          <a:p>
            <a:endParaRPr lang="en-IN" sz="2000" dirty="0"/>
          </a:p>
          <a:p>
            <a:r>
              <a:rPr lang="en-IN" sz="2000" dirty="0"/>
              <a:t>Java Exception Handling Tutorial – </a:t>
            </a:r>
            <a:r>
              <a:rPr lang="en-IN" sz="2000" dirty="0" err="1"/>
              <a:t>TutorialsPoint</a:t>
            </a:r>
            <a:endParaRPr lang="en-IN" sz="2000" dirty="0"/>
          </a:p>
          <a:p>
            <a:endParaRPr lang="en-IN" sz="2000" dirty="0"/>
          </a:p>
          <a:p>
            <a:r>
              <a:rPr lang="en-IN" sz="2000" dirty="0"/>
              <a:t>Unified </a:t>
            </a:r>
            <a:r>
              <a:rPr lang="en-IN" sz="2000" dirty="0" err="1"/>
              <a:t>Modeling</a:t>
            </a:r>
            <a:r>
              <a:rPr lang="en-IN" sz="2000" dirty="0"/>
              <a:t> Language (UML) Documentation – Object Management Group</a:t>
            </a:r>
          </a:p>
        </p:txBody>
      </p:sp>
    </p:spTree>
    <p:extLst>
      <p:ext uri="{BB962C8B-B14F-4D97-AF65-F5344CB8AC3E}">
        <p14:creationId xmlns:p14="http://schemas.microsoft.com/office/powerpoint/2010/main" val="421944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CD4F7-319B-4D54-8D00-225154E24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0" y="2895600"/>
            <a:ext cx="2971800" cy="677108"/>
          </a:xfrm>
        </p:spPr>
        <p:txBody>
          <a:bodyPr/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0104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312</TotalTime>
  <Words>748</Words>
  <Application>Microsoft Office PowerPoint</Application>
  <PresentationFormat>On-screen Show (4:3)</PresentationFormat>
  <Paragraphs>149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Century Gothic Bold</vt:lpstr>
      <vt:lpstr>Times New Roman</vt:lpstr>
      <vt:lpstr>Wingdings</vt:lpstr>
      <vt:lpstr>Office Theme</vt:lpstr>
      <vt:lpstr>PowerPoint Presentation</vt:lpstr>
      <vt:lpstr>PowerPoint Presentation</vt:lpstr>
      <vt:lpstr>Abstract </vt:lpstr>
      <vt:lpstr>Introduction</vt:lpstr>
      <vt:lpstr>Literature Survey/Research</vt:lpstr>
      <vt:lpstr>Proposed Work</vt:lpstr>
      <vt:lpstr>AEIOU Canvas</vt:lpstr>
      <vt:lpstr>Ideation Canvas</vt:lpstr>
      <vt:lpstr>Prototype </vt:lpstr>
      <vt:lpstr>Prototype</vt:lpstr>
      <vt:lpstr>Prototype</vt:lpstr>
      <vt:lpstr>Prototype</vt:lpstr>
      <vt:lpstr>Problem</vt:lpstr>
      <vt:lpstr>Novelty of Definition</vt:lpstr>
      <vt:lpstr>Solution</vt:lpstr>
      <vt:lpstr>Work carried out till date</vt:lpstr>
      <vt:lpstr>Future Work &amp; Conclusion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Review-1 IDT-I_PPT_Format 2025-26.pptx</dc:title>
  <dc:creator>Bansi Thanki</dc:creator>
  <cp:lastModifiedBy>Tirth Bhimani</cp:lastModifiedBy>
  <cp:revision>30</cp:revision>
  <dcterms:created xsi:type="dcterms:W3CDTF">2025-09-05T17:20:21Z</dcterms:created>
  <dcterms:modified xsi:type="dcterms:W3CDTF">2026-03-07T08:20:08Z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2025-09-05T00:00:00Z</vt:filetime>
  </property>
  <property fmtid="{D5CDD505-2E9C-101B-9397-08002B2CF9AE}" pid="3" name="Creator">
    <vt:lpwstr>Google</vt:lpwstr>
  </property>
  <property fmtid="{D5CDD505-2E9C-101B-9397-08002B2CF9AE}" pid="4" name="LastSaved">
    <vt:filetime>2025-09-05T00:00:00Z</vt:filetime>
  </property>
</Properties>
</file>