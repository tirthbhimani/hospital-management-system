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82" r:id="rId4"/>
    <p:sldId id="271" r:id="rId5"/>
    <p:sldId id="272" r:id="rId6"/>
    <p:sldId id="285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74" r:id="rId16"/>
    <p:sldId id="276" r:id="rId17"/>
    <p:sldId id="275" r:id="rId18"/>
    <p:sldId id="277" r:id="rId19"/>
    <p:sldId id="278" r:id="rId20"/>
    <p:sldId id="279" r:id="rId21"/>
    <p:sldId id="284" r:id="rId2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-542" y="-20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nsi" userId="c261fac0d0eb37aa" providerId="LiveId" clId="{4A3B41A5-FF4B-44B4-BE72-81D6AD68825E}"/>
    <pc:docChg chg="custSel delSld modSld">
      <pc:chgData name="Bansi" userId="c261fac0d0eb37aa" providerId="LiveId" clId="{4A3B41A5-FF4B-44B4-BE72-81D6AD68825E}" dt="2025-11-05T11:16:31.611" v="74" actId="255"/>
      <pc:docMkLst>
        <pc:docMk/>
      </pc:docMkLst>
      <pc:sldChg chg="modSp mod">
        <pc:chgData name="Bansi" userId="c261fac0d0eb37aa" providerId="LiveId" clId="{4A3B41A5-FF4B-44B4-BE72-81D6AD68825E}" dt="2025-11-05T11:16:31.611" v="74" actId="255"/>
        <pc:sldMkLst>
          <pc:docMk/>
          <pc:sldMk cId="0" sldId="256"/>
        </pc:sldMkLst>
        <pc:spChg chg="mod">
          <ac:chgData name="Bansi" userId="c261fac0d0eb37aa" providerId="LiveId" clId="{4A3B41A5-FF4B-44B4-BE72-81D6AD68825E}" dt="2025-11-05T11:16:31.611" v="74" actId="255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Bansi" userId="c261fac0d0eb37aa" providerId="LiveId" clId="{4A3B41A5-FF4B-44B4-BE72-81D6AD68825E}" dt="2025-11-05T09:55:17.820" v="48" actId="20577"/>
        <pc:sldMkLst>
          <pc:docMk/>
          <pc:sldMk cId="0" sldId="257"/>
        </pc:sldMkLst>
        <pc:spChg chg="mod">
          <ac:chgData name="Bansi" userId="c261fac0d0eb37aa" providerId="LiveId" clId="{4A3B41A5-FF4B-44B4-BE72-81D6AD68825E}" dt="2025-11-05T09:55:17.820" v="48" actId="20577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Bansi" userId="c261fac0d0eb37aa" providerId="LiveId" clId="{4A3B41A5-FF4B-44B4-BE72-81D6AD68825E}" dt="2025-11-05T09:54:23.858" v="29" actId="2696"/>
        <pc:sldMkLst>
          <pc:docMk/>
          <pc:sldMk cId="3172496348" sldId="286"/>
        </pc:sldMkLst>
      </pc:sldChg>
      <pc:sldChg chg="addSp delSp modSp mod">
        <pc:chgData name="Bansi" userId="c261fac0d0eb37aa" providerId="LiveId" clId="{4A3B41A5-FF4B-44B4-BE72-81D6AD68825E}" dt="2025-11-05T09:49:54.591" v="18" actId="14100"/>
        <pc:sldMkLst>
          <pc:docMk/>
          <pc:sldMk cId="785675348" sldId="287"/>
        </pc:sldMkLst>
        <pc:picChg chg="add del mod">
          <ac:chgData name="Bansi" userId="c261fac0d0eb37aa" providerId="LiveId" clId="{4A3B41A5-FF4B-44B4-BE72-81D6AD68825E}" dt="2025-11-05T09:47:24.148" v="1" actId="21"/>
          <ac:picMkLst>
            <pc:docMk/>
            <pc:sldMk cId="785675348" sldId="287"/>
            <ac:picMk id="5" creationId="{E6B11886-46E6-40E1-BD4D-6C5A5D31A0E6}"/>
          </ac:picMkLst>
        </pc:picChg>
        <pc:picChg chg="add mod">
          <ac:chgData name="Bansi" userId="c261fac0d0eb37aa" providerId="LiveId" clId="{4A3B41A5-FF4B-44B4-BE72-81D6AD68825E}" dt="2025-11-05T09:49:54.591" v="18" actId="14100"/>
          <ac:picMkLst>
            <pc:docMk/>
            <pc:sldMk cId="785675348" sldId="287"/>
            <ac:picMk id="7" creationId="{8BD32360-B3F8-4D36-BEBB-3A452491FF5F}"/>
          </ac:picMkLst>
        </pc:picChg>
      </pc:sldChg>
      <pc:sldChg chg="addSp modSp mod">
        <pc:chgData name="Bansi" userId="c261fac0d0eb37aa" providerId="LiveId" clId="{4A3B41A5-FF4B-44B4-BE72-81D6AD68825E}" dt="2025-11-05T09:50:50.035" v="23" actId="14100"/>
        <pc:sldMkLst>
          <pc:docMk/>
          <pc:sldMk cId="2653773152" sldId="288"/>
        </pc:sldMkLst>
        <pc:picChg chg="add mod">
          <ac:chgData name="Bansi" userId="c261fac0d0eb37aa" providerId="LiveId" clId="{4A3B41A5-FF4B-44B4-BE72-81D6AD68825E}" dt="2025-11-05T09:50:50.035" v="23" actId="14100"/>
          <ac:picMkLst>
            <pc:docMk/>
            <pc:sldMk cId="2653773152" sldId="288"/>
            <ac:picMk id="5" creationId="{B8B9ED7F-3750-4103-A729-8B33589DED0D}"/>
          </ac:picMkLst>
        </pc:picChg>
      </pc:sldChg>
      <pc:sldChg chg="addSp modSp mod">
        <pc:chgData name="Bansi" userId="c261fac0d0eb37aa" providerId="LiveId" clId="{4A3B41A5-FF4B-44B4-BE72-81D6AD68825E}" dt="2025-11-05T09:48:58.983" v="14" actId="14100"/>
        <pc:sldMkLst>
          <pc:docMk/>
          <pc:sldMk cId="2377661339" sldId="289"/>
        </pc:sldMkLst>
        <pc:picChg chg="add mod">
          <ac:chgData name="Bansi" userId="c261fac0d0eb37aa" providerId="LiveId" clId="{4A3B41A5-FF4B-44B4-BE72-81D6AD68825E}" dt="2025-11-05T09:48:58.983" v="14" actId="14100"/>
          <ac:picMkLst>
            <pc:docMk/>
            <pc:sldMk cId="2377661339" sldId="289"/>
            <ac:picMk id="4" creationId="{06FB893F-8075-4A4F-91D6-C67FAC5F9621}"/>
          </ac:picMkLst>
        </pc:picChg>
      </pc:sldChg>
      <pc:sldChg chg="addSp modSp mod">
        <pc:chgData name="Bansi" userId="c261fac0d0eb37aa" providerId="LiveId" clId="{4A3B41A5-FF4B-44B4-BE72-81D6AD68825E}" dt="2025-11-05T09:53:51.631" v="28" actId="14100"/>
        <pc:sldMkLst>
          <pc:docMk/>
          <pc:sldMk cId="3598885149" sldId="290"/>
        </pc:sldMkLst>
        <pc:picChg chg="add mod">
          <ac:chgData name="Bansi" userId="c261fac0d0eb37aa" providerId="LiveId" clId="{4A3B41A5-FF4B-44B4-BE72-81D6AD68825E}" dt="2025-11-05T09:53:51.631" v="28" actId="14100"/>
          <ac:picMkLst>
            <pc:docMk/>
            <pc:sldMk cId="3598885149" sldId="290"/>
            <ac:picMk id="5" creationId="{0C7EC5C3-518E-4DE2-B265-3121DCA6D86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83907" y="1453958"/>
            <a:ext cx="4776185" cy="1031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62626"/>
                </a:solidFill>
                <a:latin typeface="Century Gothic Bold"/>
                <a:cs typeface="Century Gothic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95955" y="3465639"/>
            <a:ext cx="5952088" cy="1031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06-Mar-26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62626"/>
                </a:solidFill>
                <a:latin typeface="Century Gothic Bold"/>
                <a:cs typeface="Century Gothic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06-Mar-26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62626"/>
                </a:solidFill>
                <a:latin typeface="Century Gothic Bold"/>
                <a:cs typeface="Century Gothic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06-Mar-26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62626"/>
                </a:solidFill>
                <a:latin typeface="Century Gothic Bold"/>
                <a:cs typeface="Century Gothic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06-Mar-26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06-Mar-26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6625" y="196024"/>
            <a:ext cx="7114786" cy="10709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62626"/>
                </a:solidFill>
                <a:latin typeface="Century Gothic Bold"/>
                <a:cs typeface="Century Gothic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06-Mar-26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0816" y="1240916"/>
            <a:ext cx="7340600" cy="149111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957705" marR="5080" indent="-1945639">
              <a:lnSpc>
                <a:spcPct val="101699"/>
              </a:lnSpc>
              <a:spcBef>
                <a:spcPts val="50"/>
              </a:spcBef>
            </a:pPr>
            <a:r>
              <a:rPr sz="2400" b="1" dirty="0">
                <a:latin typeface="Times New Roman"/>
                <a:cs typeface="Times New Roman"/>
              </a:rPr>
              <a:t>School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Technology,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Design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Computer</a:t>
            </a:r>
            <a:r>
              <a:rPr sz="2400" b="1" spc="-18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Application </a:t>
            </a:r>
            <a:endParaRPr sz="2400" dirty="0">
              <a:latin typeface="Times New Roman"/>
              <a:cs typeface="Times New Roman"/>
            </a:endParaRPr>
          </a:p>
          <a:p>
            <a:pPr marL="662305" marR="650240" indent="1487805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Bachelor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Technology </a:t>
            </a:r>
            <a:endParaRPr sz="2400" dirty="0">
              <a:latin typeface="Times New Roman"/>
              <a:cs typeface="Times New Roman"/>
            </a:endParaRPr>
          </a:p>
          <a:p>
            <a:pPr marL="889635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Department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Computer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Engineering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(04)</a:t>
            </a:r>
            <a:endParaRPr lang="en-US" sz="2400" b="1" spc="-20" dirty="0">
              <a:latin typeface="Times New Roman"/>
              <a:cs typeface="Times New Roman"/>
            </a:endParaRPr>
          </a:p>
          <a:p>
            <a:pPr marL="889635">
              <a:lnSpc>
                <a:spcPct val="100000"/>
              </a:lnSpc>
            </a:pPr>
            <a:r>
              <a:rPr lang="en-US" sz="2400" b="1" dirty="0">
                <a:latin typeface="Times New Roman"/>
                <a:cs typeface="Times New Roman"/>
              </a:rPr>
              <a:t>SUBJECT: Innovation and Design Thinking</a:t>
            </a:r>
            <a:endParaRPr sz="2400" b="1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0" y="4406221"/>
            <a:ext cx="2678138" cy="2490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Group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Members</a:t>
            </a:r>
            <a:r>
              <a:rPr lang="en-US" sz="2800" spc="-10" dirty="0">
                <a:latin typeface="Times New Roman"/>
                <a:cs typeface="Times New Roman"/>
              </a:rPr>
              <a:t> :-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spc="-10" dirty="0" err="1">
                <a:latin typeface="Times New Roman"/>
                <a:cs typeface="Times New Roman"/>
              </a:rPr>
              <a:t>Rensi</a:t>
            </a:r>
            <a:r>
              <a:rPr lang="en-US" sz="2000" spc="-10" dirty="0">
                <a:latin typeface="Times New Roman"/>
                <a:cs typeface="Times New Roman"/>
              </a:rPr>
              <a:t>(207)</a:t>
            </a:r>
          </a:p>
          <a:p>
            <a:pPr marL="12700">
              <a:spcBef>
                <a:spcPts val="100"/>
              </a:spcBef>
            </a:pPr>
            <a:r>
              <a:rPr lang="en-US" sz="2000" spc="-10" dirty="0">
                <a:latin typeface="Times New Roman"/>
                <a:cs typeface="Times New Roman"/>
              </a:rPr>
              <a:t>Bansi(204)</a:t>
            </a:r>
          </a:p>
          <a:p>
            <a:pPr marL="12700">
              <a:spcBef>
                <a:spcPts val="100"/>
              </a:spcBef>
            </a:pPr>
            <a:r>
              <a:rPr lang="en-US" sz="2000" spc="-10" dirty="0" err="1">
                <a:latin typeface="Times New Roman"/>
                <a:cs typeface="Times New Roman"/>
              </a:rPr>
              <a:t>Hitaxi</a:t>
            </a:r>
            <a:r>
              <a:rPr lang="en-US" sz="2000" spc="-10" dirty="0">
                <a:latin typeface="Times New Roman"/>
                <a:cs typeface="Times New Roman"/>
              </a:rPr>
              <a:t>(215)</a:t>
            </a:r>
          </a:p>
          <a:p>
            <a:pPr marL="12700">
              <a:spcBef>
                <a:spcPts val="100"/>
              </a:spcBef>
            </a:pPr>
            <a:r>
              <a:rPr lang="en-US" sz="2000" spc="-10" dirty="0" err="1">
                <a:latin typeface="Times New Roman"/>
                <a:cs typeface="Times New Roman"/>
              </a:rPr>
              <a:t>Kokay</a:t>
            </a:r>
            <a:r>
              <a:rPr lang="en-US" sz="2000" spc="-10" dirty="0">
                <a:latin typeface="Times New Roman"/>
                <a:cs typeface="Times New Roman"/>
              </a:rPr>
              <a:t>(217)</a:t>
            </a:r>
          </a:p>
          <a:p>
            <a:pPr marL="12700">
              <a:spcBef>
                <a:spcPts val="100"/>
              </a:spcBef>
            </a:pPr>
            <a:r>
              <a:rPr lang="en-US" sz="2000" spc="-10" dirty="0">
                <a:latin typeface="Times New Roman"/>
                <a:cs typeface="Times New Roman"/>
              </a:rPr>
              <a:t>Kinjal(218)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08893" y="4465415"/>
            <a:ext cx="3241040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Internal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Faculty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Guide</a:t>
            </a:r>
            <a:endParaRPr lang="en-US" sz="240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10" dirty="0">
                <a:latin typeface="Times New Roman"/>
                <a:cs typeface="Times New Roman"/>
              </a:rPr>
              <a:t>Prof. Bhumika </a:t>
            </a:r>
            <a:r>
              <a:rPr lang="en-US" sz="2400" spc="-10" dirty="0" err="1">
                <a:latin typeface="Times New Roman"/>
                <a:cs typeface="Times New Roman"/>
              </a:rPr>
              <a:t>Sindhav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4575" y="73025"/>
            <a:ext cx="4414838" cy="9715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24000" y="3341783"/>
            <a:ext cx="634477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and Wellness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8707" y="381000"/>
            <a:ext cx="32842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latin typeface="Times New Roman"/>
                <a:cs typeface="Times New Roman"/>
              </a:rPr>
              <a:t>Table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8707" y="955040"/>
            <a:ext cx="6459855" cy="616835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900"/>
              </a:spcBef>
              <a:buFont typeface="Arial"/>
              <a:buChar char="•"/>
              <a:tabLst>
                <a:tab pos="278765" algn="l"/>
              </a:tabLst>
            </a:pPr>
            <a:r>
              <a:rPr sz="2000" spc="-10" dirty="0">
                <a:latin typeface="Times New Roman"/>
                <a:cs typeface="Times New Roman"/>
              </a:rPr>
              <a:t>Abstract</a:t>
            </a:r>
            <a:endParaRPr sz="2000" dirty="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78765" algn="l"/>
              </a:tabLst>
            </a:pPr>
            <a:r>
              <a:rPr sz="2000" spc="-10" dirty="0">
                <a:latin typeface="Times New Roman"/>
                <a:cs typeface="Times New Roman"/>
              </a:rPr>
              <a:t>Introduction</a:t>
            </a:r>
            <a:endParaRPr sz="2000" dirty="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78765" algn="l"/>
              </a:tabLst>
            </a:pPr>
            <a:r>
              <a:rPr sz="2000" dirty="0">
                <a:latin typeface="Times New Roman"/>
                <a:cs typeface="Times New Roman"/>
              </a:rPr>
              <a:t>Literature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Survey/Research</a:t>
            </a:r>
            <a:endParaRPr sz="2000" dirty="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78765" algn="l"/>
              </a:tabLst>
            </a:pPr>
            <a:r>
              <a:rPr sz="2000" dirty="0">
                <a:latin typeface="Times New Roman"/>
                <a:cs typeface="Times New Roman"/>
              </a:rPr>
              <a:t>Proposed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Work</a:t>
            </a:r>
            <a:endParaRPr lang="en-US" sz="2000" spc="-20" dirty="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78765" algn="l"/>
              </a:tabLst>
            </a:pPr>
            <a:r>
              <a:rPr lang="en-US" sz="2000" spc="-20" dirty="0">
                <a:latin typeface="Times New Roman"/>
                <a:cs typeface="Times New Roman"/>
              </a:rPr>
              <a:t>AEIOU Canvas</a:t>
            </a:r>
          </a:p>
          <a:p>
            <a:pPr marL="278765" indent="-266065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78765" algn="l"/>
              </a:tabLst>
            </a:pPr>
            <a:r>
              <a:rPr lang="en-US" sz="2000" spc="-20" dirty="0">
                <a:latin typeface="Times New Roman"/>
                <a:cs typeface="Times New Roman"/>
              </a:rPr>
              <a:t>Ideation Canvas</a:t>
            </a:r>
          </a:p>
          <a:p>
            <a:pPr marL="278765" indent="-266065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78765" algn="l"/>
              </a:tabLst>
            </a:pPr>
            <a:r>
              <a:rPr lang="en-US" sz="2000" spc="-20" dirty="0">
                <a:latin typeface="Times New Roman"/>
                <a:cs typeface="Times New Roman"/>
              </a:rPr>
              <a:t>Product Canvas</a:t>
            </a:r>
          </a:p>
          <a:p>
            <a:pPr marL="278765" indent="-266065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78765" algn="l"/>
              </a:tabLst>
            </a:pPr>
            <a:r>
              <a:rPr lang="en-US" sz="2000" spc="-20" dirty="0">
                <a:latin typeface="Times New Roman"/>
                <a:cs typeface="Times New Roman"/>
              </a:rPr>
              <a:t>Mind map</a:t>
            </a:r>
          </a:p>
          <a:p>
            <a:pPr marL="278765" indent="-266065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78765" algn="l"/>
              </a:tabLst>
            </a:pPr>
            <a:r>
              <a:rPr lang="en-US" sz="2000" spc="-20" dirty="0">
                <a:latin typeface="Times New Roman"/>
                <a:cs typeface="Times New Roman"/>
              </a:rPr>
              <a:t>Prototype Screenshot </a:t>
            </a:r>
            <a:endParaRPr sz="2000" dirty="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78765" algn="l"/>
              </a:tabLst>
            </a:pPr>
            <a:r>
              <a:rPr sz="2000" spc="-10" dirty="0">
                <a:latin typeface="Times New Roman"/>
                <a:cs typeface="Times New Roman"/>
              </a:rPr>
              <a:t>Problem</a:t>
            </a:r>
            <a:endParaRPr sz="2000" dirty="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spcBef>
                <a:spcPts val="800"/>
              </a:spcBef>
              <a:buChar char="•"/>
              <a:tabLst>
                <a:tab pos="279400" algn="l"/>
              </a:tabLst>
            </a:pPr>
            <a:r>
              <a:rPr sz="2000" spc="-10" dirty="0">
                <a:latin typeface="Times New Roman"/>
                <a:cs typeface="Times New Roman"/>
              </a:rPr>
              <a:t>Solution</a:t>
            </a:r>
            <a:endParaRPr sz="2000" dirty="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spcBef>
                <a:spcPts val="800"/>
              </a:spcBef>
              <a:buChar char="•"/>
              <a:tabLst>
                <a:tab pos="279400" algn="l"/>
              </a:tabLst>
            </a:pPr>
            <a:r>
              <a:rPr sz="2000" dirty="0">
                <a:latin typeface="Times New Roman"/>
                <a:cs typeface="Times New Roman"/>
              </a:rPr>
              <a:t>Novelty of </a:t>
            </a:r>
            <a:r>
              <a:rPr sz="2000" spc="-10" dirty="0">
                <a:latin typeface="Times New Roman"/>
                <a:cs typeface="Times New Roman"/>
              </a:rPr>
              <a:t>definition</a:t>
            </a:r>
            <a:endParaRPr sz="2000" dirty="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78765" algn="l"/>
              </a:tabLst>
            </a:pPr>
            <a:r>
              <a:rPr sz="2000" spc="-20" dirty="0">
                <a:latin typeface="Times New Roman"/>
                <a:cs typeface="Times New Roman"/>
              </a:rPr>
              <a:t>Worked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carried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till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date(Table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format)</a:t>
            </a:r>
            <a:endParaRPr sz="2000" dirty="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78765" algn="l"/>
              </a:tabLst>
            </a:pPr>
            <a:r>
              <a:rPr sz="2000" dirty="0">
                <a:latin typeface="Times New Roman"/>
                <a:cs typeface="Times New Roman"/>
              </a:rPr>
              <a:t>Future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Work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Conclusion</a:t>
            </a:r>
            <a:endParaRPr sz="2000" dirty="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78765" algn="l"/>
              </a:tabLst>
            </a:pPr>
            <a:r>
              <a:rPr sz="2000" spc="-10" dirty="0">
                <a:latin typeface="Times New Roman"/>
                <a:cs typeface="Times New Roman"/>
              </a:rPr>
              <a:t>References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E794-4F3E-417E-B2BC-A85F3B99C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7114786" cy="1107996"/>
          </a:xfrm>
        </p:spPr>
        <p:txBody>
          <a:bodyPr/>
          <a:lstStyle/>
          <a:p>
            <a:r>
              <a:rPr lang="en-US" sz="3600" spc="-10" dirty="0">
                <a:latin typeface="Times New Roman"/>
                <a:cs typeface="Times New Roman"/>
              </a:rPr>
              <a:t>Abstract</a:t>
            </a:r>
            <a:br>
              <a:rPr lang="en-US" sz="3600" dirty="0">
                <a:latin typeface="Times New Roman"/>
                <a:cs typeface="Times New Roman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CED82-68D3-431B-B910-A12FD5EB0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133600"/>
            <a:ext cx="8229600" cy="3354765"/>
          </a:xfrm>
        </p:spPr>
        <p:txBody>
          <a:bodyPr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“Healthcare and Wellness” focuses on improving hospital and patient management using online technology.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patients easily check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bed availability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doctor timing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appointment status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their mobile phones.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gives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avoid long waiting hours and make hospital operations more efficient.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267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41B96-BB17-2F22-B640-ADDC8B109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7114786" cy="553998"/>
          </a:xfrm>
        </p:spPr>
        <p:txBody>
          <a:bodyPr/>
          <a:lstStyle/>
          <a:p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61DF1-7F29-4A98-E8F2-73E0DB95B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286000"/>
            <a:ext cx="7696200" cy="304698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world, managing healthcare efficiently is very important.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hospitals still use manual systems for patient entry and updates.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causes problems like waiting in lines, lack of communication, and delayed updates.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focuses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digitalizing healthcare services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patient convenience and hospital management.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738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6E8C4-F450-E16E-EF6D-E9E112454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25" y="196024"/>
            <a:ext cx="7114786" cy="55399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Survey/Research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D37BC-C44A-045D-84A0-4D6C62CCA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8382000" cy="5410199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6C9C792-3E0B-4418-A31D-F920F8D46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275665"/>
              </p:ext>
            </p:extLst>
          </p:nvPr>
        </p:nvGraphicFramePr>
        <p:xfrm>
          <a:off x="533400" y="1371600"/>
          <a:ext cx="7772400" cy="486294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5239">
                  <a:extLst>
                    <a:ext uri="{9D8B030D-6E8A-4147-A177-3AD203B41FA5}">
                      <a16:colId xmlns:a16="http://schemas.microsoft.com/office/drawing/2014/main" val="2784701329"/>
                    </a:ext>
                  </a:extLst>
                </a:gridCol>
                <a:gridCol w="2362387">
                  <a:extLst>
                    <a:ext uri="{9D8B030D-6E8A-4147-A177-3AD203B41FA5}">
                      <a16:colId xmlns:a16="http://schemas.microsoft.com/office/drawing/2014/main" val="1175677065"/>
                    </a:ext>
                  </a:extLst>
                </a:gridCol>
                <a:gridCol w="2362387">
                  <a:extLst>
                    <a:ext uri="{9D8B030D-6E8A-4147-A177-3AD203B41FA5}">
                      <a16:colId xmlns:a16="http://schemas.microsoft.com/office/drawing/2014/main" val="3732146261"/>
                    </a:ext>
                  </a:extLst>
                </a:gridCol>
                <a:gridCol w="2362387">
                  <a:extLst>
                    <a:ext uri="{9D8B030D-6E8A-4147-A177-3AD203B41FA5}">
                      <a16:colId xmlns:a16="http://schemas.microsoft.com/office/drawing/2014/main" val="2329953633"/>
                    </a:ext>
                  </a:extLst>
                </a:gridCol>
              </a:tblGrid>
              <a:tr h="71178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/ Research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 / 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986887"/>
                  </a:ext>
                </a:extLst>
              </a:tr>
              <a:tr h="130232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IoT-Based Smart Healthcare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IoT,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health data collection using sensors and remote monitoring of patients.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30014"/>
                  </a:ext>
                </a:extLst>
              </a:tr>
              <a:tr h="130232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Hospital Management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Web,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Simplifies hospital operations like appointments, billing, and bed management.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271224"/>
                  </a:ext>
                </a:extLst>
              </a:tr>
              <a:tr h="154650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Doctor Appointment &amp; Scheduling Portal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Android, PHP, MySQL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patients book and track doctor appointments online, reducing waiting time.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915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233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B98C5-0A79-4E1B-9361-01650F731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94" y="457200"/>
            <a:ext cx="7114786" cy="553998"/>
          </a:xfrm>
        </p:spPr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lang="en-IN" spc="-19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2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43ECB-D849-4FA5-9C53-7CA33F80B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057400"/>
            <a:ext cx="7467600" cy="2800767"/>
          </a:xfrm>
        </p:spPr>
        <p:txBody>
          <a:bodyPr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bed availability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doctor timings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 queue status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Patients can check updates easily on their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phones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Hospital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staff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 information instantly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through an admin panel.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waiting time, manage crowds, and improve hospital communication.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247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BB3B1-13A8-443D-9E2E-D25D90CE2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25" y="196024"/>
            <a:ext cx="7114786" cy="55399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AEIOU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Canvas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6952B-4FEE-4130-AACC-B94E2212D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D32360-B3F8-4D36-BEBB-3A452491F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77340"/>
            <a:ext cx="8229600" cy="478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75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8E079-804C-4851-9E19-AE6E4305E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25" y="196024"/>
            <a:ext cx="7114786" cy="55399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Ideation Canvas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4BCA5-D0C0-4258-8228-54031B754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B9ED7F-3750-4103-A729-8B33589DE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77340"/>
            <a:ext cx="8229600" cy="4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773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E6AB4-2223-4712-9F6B-1989F7F0F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25" y="196024"/>
            <a:ext cx="7114786" cy="55399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Canvas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B0AFD-2000-41F2-B636-A74AC7EB0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FB893F-8075-4A4F-91D6-C67FAC5F9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77340"/>
            <a:ext cx="8229600" cy="497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661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1781D-84A2-403E-83BB-A1B786E54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25" y="196024"/>
            <a:ext cx="7114786" cy="55399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 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F57DB-5C2A-4C7D-BE32-4CE8BDEA4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7EC5C3-518E-4DE2-B265-3121DCA6D8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77340"/>
            <a:ext cx="8229600" cy="4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885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AB5F3-5324-4D9C-A945-F8B1AEF16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00AE01E-3D42-4DD2-A069-5ACFA5FE9A4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7201" y="2133600"/>
            <a:ext cx="3978275" cy="3376636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2B0BD0D-EB5C-4962-86D1-26C3D1AB1DFA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3"/>
          <a:stretch>
            <a:fillRect/>
          </a:stretch>
        </p:blipFill>
        <p:spPr>
          <a:xfrm>
            <a:off x="4708525" y="2971297"/>
            <a:ext cx="3978275" cy="1739319"/>
          </a:xfrm>
        </p:spPr>
      </p:pic>
    </p:spTree>
    <p:extLst>
      <p:ext uri="{BB962C8B-B14F-4D97-AF65-F5344CB8AC3E}">
        <p14:creationId xmlns:p14="http://schemas.microsoft.com/office/powerpoint/2010/main" val="1785621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5359B0-CAAB-44C8-8E1B-E059304D8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25" y="196024"/>
            <a:ext cx="7114786" cy="55399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2AEFC-3548-4E7B-8CD7-52001CAA6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7FE6F8-E365-4874-895D-867B61F98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37046"/>
            <a:ext cx="8229600" cy="400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660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DEAB9-D089-4F3B-9F77-5F9F0EDC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25" y="196024"/>
            <a:ext cx="7114786" cy="55399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0DA64-54D7-4A8F-BB6F-87C067BFD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0534C2-246F-4171-A2DD-B1D350A7B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6401"/>
            <a:ext cx="8153400" cy="404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733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337AD-CFE0-4B58-96B8-7B4A80DD6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41A82AF-18EB-4E71-B97B-598CF62CA6A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7200" y="1446264"/>
            <a:ext cx="3978275" cy="4649093"/>
          </a:xfr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19A7EAB-690D-43F7-8C85-C8FC05851AA6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9066BE-B033-4CF8-B105-7F34171E7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446264"/>
            <a:ext cx="3977640" cy="464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265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22CF9-CF7D-B20B-3370-6A33AA6BC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25" y="196024"/>
            <a:ext cx="7114786" cy="553998"/>
          </a:xfrm>
        </p:spPr>
        <p:txBody>
          <a:bodyPr/>
          <a:lstStyle/>
          <a:p>
            <a:r>
              <a:rPr lang="en-IN" spc="-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CFA58F-AF19-4419-A25A-703A9D412B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85990"/>
            <a:ext cx="82296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Bed Availability: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Patients do not know if beds are available in hospitals until they visit physically.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 Waiting Queues: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Patients have to stand outside the hospital for a long time to get their case number or appointment.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Doctor Availability: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Patients are not informed about which doctors are present or when they will arrive.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Updates: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system to give immediate updates about hospital changes or doctor schedules.</a:t>
            </a:r>
          </a:p>
        </p:txBody>
      </p:sp>
    </p:spTree>
    <p:extLst>
      <p:ext uri="{BB962C8B-B14F-4D97-AF65-F5344CB8AC3E}">
        <p14:creationId xmlns:p14="http://schemas.microsoft.com/office/powerpoint/2010/main" val="2598449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FF131-0936-201C-B546-A85793DE2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33400"/>
            <a:ext cx="7114786" cy="553998"/>
          </a:xfrm>
        </p:spPr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  <a:r>
              <a:rPr lang="en-IN" spc="-114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IN" spc="-10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FA61C4-34F4-4FE8-871C-2A2C253D10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2409319"/>
            <a:ext cx="73914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hospital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directly on mobile phones.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doctor timing, bed info, and patient queue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one platform.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updates and notifications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patients and staff.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both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access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wellness experience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users.</a:t>
            </a:r>
          </a:p>
        </p:txBody>
      </p:sp>
    </p:spTree>
    <p:extLst>
      <p:ext uri="{BB962C8B-B14F-4D97-AF65-F5344CB8AC3E}">
        <p14:creationId xmlns:p14="http://schemas.microsoft.com/office/powerpoint/2010/main" val="231712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4AE3-D4FF-0707-BC8D-63D0E540D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25" y="304800"/>
            <a:ext cx="7114786" cy="973780"/>
          </a:xfrm>
        </p:spPr>
        <p:txBody>
          <a:bodyPr/>
          <a:lstStyle/>
          <a:p>
            <a:r>
              <a:rPr lang="en-IN" spc="-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412E00-AAE6-4C4C-AA3D-29781170C2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1" y="2101544"/>
            <a:ext cx="82296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healthcare management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shows: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bed status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a mobile app or website.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Doctor’s schedule and availability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real time.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queue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patients to take tokens online.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 notifications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any update or change in hospital information.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waiting time and improve hospital transparency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7599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9D3D1-224D-01C1-4A8E-1A54DB017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25" y="533400"/>
            <a:ext cx="7114786" cy="55399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carried</a:t>
            </a:r>
            <a:r>
              <a:rPr lang="en-US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till</a:t>
            </a:r>
            <a:r>
              <a:rPr lang="en-US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19516-322C-7907-DD2D-F1BCB1858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057400"/>
            <a:ext cx="7315200" cy="4038600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51960D1-101F-4647-ABF3-643429EE2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433868"/>
              </p:ext>
            </p:extLst>
          </p:nvPr>
        </p:nvGraphicFramePr>
        <p:xfrm>
          <a:off x="914400" y="2057400"/>
          <a:ext cx="7315200" cy="3962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10910318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56184831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88762956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r>
                        <a:rPr lang="en-US" dirty="0"/>
                        <a:t>Work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817178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r>
                        <a:rPr lang="en-US" dirty="0"/>
                        <a:t>Problem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Studied issues in hospital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79206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r>
                        <a:rPr lang="en-US" dirty="0"/>
                        <a:t>Design 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Planned layout for mobile/web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17796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r>
                        <a:rPr lang="en-US" dirty="0"/>
                        <a:t>Prototype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Created demo for bed &amp; doctor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084308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r>
                        <a:rPr lang="en-US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Collecting sample data for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60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145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2E607-25FE-1C88-DE6C-2E6BE4BA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25" y="196024"/>
            <a:ext cx="7114786" cy="55399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lang="en-IN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IN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511E9-F499-EFEB-2A71-7BBE0B569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066800"/>
            <a:ext cx="7696200" cy="532453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features like online appointment booking and patient report tracking.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multiple hospitals to one platform for better reach.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AI suggestions for patient wellness and health tips.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hospitals and patients stay connected in real time.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crowding, saves time, and ensures better communication.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step toward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smart, digital healthcare and wellness.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7700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302BF-D718-A035-F4DF-6ABF6CB68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7114786" cy="553998"/>
          </a:xfrm>
        </p:spPr>
        <p:txBody>
          <a:bodyPr/>
          <a:lstStyle/>
          <a:p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168BD2-4784-4F28-9E14-1131FC6A91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873478"/>
            <a:ext cx="68580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WHO – Smart Health and Wellness Reports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Research on Hospital Management Systems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Healthcare Monitoring using IoT – ResearchGate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National Health Portal (India)</a:t>
            </a:r>
          </a:p>
        </p:txBody>
      </p:sp>
    </p:spTree>
    <p:extLst>
      <p:ext uri="{BB962C8B-B14F-4D97-AF65-F5344CB8AC3E}">
        <p14:creationId xmlns:p14="http://schemas.microsoft.com/office/powerpoint/2010/main" val="4219446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CD4F7-319B-4D54-8D00-225154E24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0" y="2895600"/>
            <a:ext cx="2971800" cy="677108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0104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625</TotalTime>
  <Words>694</Words>
  <Application>Microsoft Office PowerPoint</Application>
  <PresentationFormat>On-screen Show (4:3)</PresentationFormat>
  <Paragraphs>147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Century Gothic Bold</vt:lpstr>
      <vt:lpstr>Times New Roman</vt:lpstr>
      <vt:lpstr>Wingdings</vt:lpstr>
      <vt:lpstr>Office Theme</vt:lpstr>
      <vt:lpstr>PowerPoint Presentation</vt:lpstr>
      <vt:lpstr>Table of Content</vt:lpstr>
      <vt:lpstr>Abstract </vt:lpstr>
      <vt:lpstr>Introduction</vt:lpstr>
      <vt:lpstr>Literature Survey/Research</vt:lpstr>
      <vt:lpstr>Proposed Work</vt:lpstr>
      <vt:lpstr>AEIOU Canvas</vt:lpstr>
      <vt:lpstr>Ideation Canvas</vt:lpstr>
      <vt:lpstr>Product Canvas</vt:lpstr>
      <vt:lpstr>Mind map</vt:lpstr>
      <vt:lpstr>Prototype </vt:lpstr>
      <vt:lpstr>Prototype</vt:lpstr>
      <vt:lpstr>Prototype</vt:lpstr>
      <vt:lpstr>Prototype</vt:lpstr>
      <vt:lpstr>Problem</vt:lpstr>
      <vt:lpstr>Novelty of Definition</vt:lpstr>
      <vt:lpstr>Solution</vt:lpstr>
      <vt:lpstr>Work carried out till date</vt:lpstr>
      <vt:lpstr>Future Work &amp; 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Review-1 IDT-I_PPT_Format 2025-26.pptx</dc:title>
  <dc:creator>Bansi Thanki</dc:creator>
  <cp:lastModifiedBy>Tirth Bhimani</cp:lastModifiedBy>
  <cp:revision>24</cp:revision>
  <dcterms:created xsi:type="dcterms:W3CDTF">2025-09-05T17:20:21Z</dcterms:created>
  <dcterms:modified xsi:type="dcterms:W3CDTF">2026-03-06T11:06:02Z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2025-09-05T00:00:00Z</vt:filetime>
  </property>
  <property fmtid="{D5CDD505-2E9C-101B-9397-08002B2CF9AE}" pid="3" name="Creator">
    <vt:lpwstr>Google</vt:lpwstr>
  </property>
  <property fmtid="{D5CDD505-2E9C-101B-9397-08002B2CF9AE}" pid="4" name="LastSaved">
    <vt:filetime>2025-09-05T00:00:00Z</vt:filetime>
  </property>
</Properties>
</file>